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74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06T13:33:25.057" idx="1">
    <p:pos x="7476" y="522"/>
    <p:text/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0343B-D300-4BEC-A82A-B8CD706687B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CE39B-C058-41EE-9646-7AB3FE1D23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CE39B-C058-41EE-9646-7AB3FE1D239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CE39B-C058-41EE-9646-7AB3FE1D239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EǪUITY</a:t>
            </a:r>
            <a:r>
              <a:rPr spc="114" dirty="0"/>
              <a:t> </a:t>
            </a:r>
            <a:r>
              <a:rPr dirty="0"/>
              <a:t>RESEARCH</a:t>
            </a:r>
            <a:r>
              <a:rPr spc="165" dirty="0"/>
              <a:t> </a:t>
            </a:r>
            <a:r>
              <a:rPr dirty="0"/>
              <a:t>·</a:t>
            </a:r>
            <a:r>
              <a:rPr spc="110" dirty="0"/>
              <a:t> </a:t>
            </a:r>
            <a:r>
              <a:rPr dirty="0"/>
              <a:t>COFFEE DAY</a:t>
            </a:r>
            <a:r>
              <a:rPr spc="105" dirty="0"/>
              <a:t> </a:t>
            </a:r>
            <a:r>
              <a:rPr spc="-20" dirty="0"/>
              <a:t>INFRA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EǪUITY</a:t>
            </a:r>
            <a:r>
              <a:rPr spc="114" dirty="0"/>
              <a:t> </a:t>
            </a:r>
            <a:r>
              <a:rPr dirty="0"/>
              <a:t>RESEARCH</a:t>
            </a:r>
            <a:r>
              <a:rPr spc="165" dirty="0"/>
              <a:t> </a:t>
            </a:r>
            <a:r>
              <a:rPr dirty="0"/>
              <a:t>·</a:t>
            </a:r>
            <a:r>
              <a:rPr spc="110" dirty="0"/>
              <a:t> </a:t>
            </a:r>
            <a:r>
              <a:rPr dirty="0"/>
              <a:t>COFFEE DAY</a:t>
            </a:r>
            <a:r>
              <a:rPr spc="105" dirty="0"/>
              <a:t> </a:t>
            </a:r>
            <a:r>
              <a:rPr spc="-20" dirty="0"/>
              <a:t>INFRA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EǪUITY</a:t>
            </a:r>
            <a:r>
              <a:rPr spc="114" dirty="0"/>
              <a:t> </a:t>
            </a:r>
            <a:r>
              <a:rPr dirty="0"/>
              <a:t>RESEARCH</a:t>
            </a:r>
            <a:r>
              <a:rPr spc="165" dirty="0"/>
              <a:t> </a:t>
            </a:r>
            <a:r>
              <a:rPr dirty="0"/>
              <a:t>·</a:t>
            </a:r>
            <a:r>
              <a:rPr spc="110" dirty="0"/>
              <a:t> </a:t>
            </a:r>
            <a:r>
              <a:rPr dirty="0"/>
              <a:t>COFFEE DAY</a:t>
            </a:r>
            <a:r>
              <a:rPr spc="105" dirty="0"/>
              <a:t> </a:t>
            </a:r>
            <a:r>
              <a:rPr spc="-20" dirty="0"/>
              <a:t>INFRA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EǪUITY</a:t>
            </a:r>
            <a:r>
              <a:rPr spc="114" dirty="0"/>
              <a:t> </a:t>
            </a:r>
            <a:r>
              <a:rPr dirty="0"/>
              <a:t>RESEARCH</a:t>
            </a:r>
            <a:r>
              <a:rPr spc="165" dirty="0"/>
              <a:t> </a:t>
            </a:r>
            <a:r>
              <a:rPr dirty="0"/>
              <a:t>·</a:t>
            </a:r>
            <a:r>
              <a:rPr spc="110" dirty="0"/>
              <a:t> </a:t>
            </a:r>
            <a:r>
              <a:rPr dirty="0"/>
              <a:t>COFFEE DAY</a:t>
            </a:r>
            <a:r>
              <a:rPr spc="105" dirty="0"/>
              <a:t> </a:t>
            </a:r>
            <a:r>
              <a:rPr spc="-20" dirty="0"/>
              <a:t>INFRA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EǪUITY</a:t>
            </a:r>
            <a:r>
              <a:rPr spc="114" dirty="0"/>
              <a:t> </a:t>
            </a:r>
            <a:r>
              <a:rPr dirty="0"/>
              <a:t>RESEARCH</a:t>
            </a:r>
            <a:r>
              <a:rPr spc="165" dirty="0"/>
              <a:t> </a:t>
            </a:r>
            <a:r>
              <a:rPr dirty="0"/>
              <a:t>·</a:t>
            </a:r>
            <a:r>
              <a:rPr spc="110" dirty="0"/>
              <a:t> </a:t>
            </a:r>
            <a:r>
              <a:rPr dirty="0"/>
              <a:t>COFFEE DAY</a:t>
            </a:r>
            <a:r>
              <a:rPr spc="105" dirty="0"/>
              <a:t> </a:t>
            </a:r>
            <a:r>
              <a:rPr spc="-20" dirty="0"/>
              <a:t>INFRA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3375" y="1690789"/>
            <a:ext cx="7140989" cy="31052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71" y="488238"/>
            <a:ext cx="4860290" cy="314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0046" y="1109217"/>
            <a:ext cx="5648959" cy="208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5953" y="6564409"/>
            <a:ext cx="1802271" cy="207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1F2937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EǪUITY</a:t>
            </a:r>
            <a:r>
              <a:rPr spc="114" dirty="0"/>
              <a:t> </a:t>
            </a:r>
            <a:r>
              <a:rPr dirty="0"/>
              <a:t>RESEARCH</a:t>
            </a:r>
            <a:r>
              <a:rPr spc="165" dirty="0"/>
              <a:t> </a:t>
            </a:r>
            <a:r>
              <a:rPr dirty="0"/>
              <a:t>·</a:t>
            </a:r>
            <a:r>
              <a:rPr spc="110" dirty="0"/>
              <a:t> </a:t>
            </a:r>
            <a:r>
              <a:rPr dirty="0"/>
              <a:t>COFFEE DAY</a:t>
            </a:r>
            <a:r>
              <a:rPr spc="105" dirty="0"/>
              <a:t> </a:t>
            </a:r>
            <a:r>
              <a:rPr spc="-20" dirty="0"/>
              <a:t>INFRA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comments" Target="../comments/commen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41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30200" y="290423"/>
            <a:ext cx="20161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ptos"/>
              </a:rPr>
              <a:t>EQUITY RESEARCH • JULY 2026</a:t>
            </a:r>
            <a:endParaRPr sz="1000" dirty="0">
              <a:latin typeface="Aptos"/>
              <a:cs typeface="Aptos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310996" y="236715"/>
            <a:ext cx="7385201" cy="832279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lang="en-US" sz="2800" dirty="0">
                <a:latin typeface="Aptos"/>
              </a:rPr>
              <a:t>Company Name</a:t>
            </a:r>
            <a:endParaRPr sz="8000" dirty="0"/>
          </a:p>
          <a:p>
            <a:r>
              <a:rPr sz="1050" dirty="0">
                <a:latin typeface="Aptos"/>
              </a:rPr>
              <a:t>NSE</a:t>
            </a:r>
            <a:r>
              <a:rPr lang="en-US" sz="1050" dirty="0">
                <a:latin typeface="Aptos"/>
              </a:rPr>
              <a:t> Tag</a:t>
            </a:r>
            <a:r>
              <a:rPr sz="1050" dirty="0">
                <a:latin typeface="Aptos"/>
              </a:rPr>
              <a:t> | BSE</a:t>
            </a:r>
            <a:r>
              <a:rPr lang="en-US" sz="1050" dirty="0">
                <a:latin typeface="Aptos"/>
              </a:rPr>
              <a:t> Tag</a:t>
            </a:r>
            <a:r>
              <a:rPr sz="1050" dirty="0">
                <a:latin typeface="Aptos"/>
              </a:rPr>
              <a:t> | Sector| </a:t>
            </a:r>
            <a:r>
              <a:rPr lang="en-US" sz="1050" dirty="0">
                <a:latin typeface="Aptos"/>
              </a:rPr>
              <a:t>Type of Market Cap</a:t>
            </a:r>
            <a:endParaRPr sz="1050" dirty="0">
              <a:latin typeface="Aptos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298145" y="1326845"/>
            <a:ext cx="2032000" cy="1099185"/>
            <a:chOff x="298145" y="1326845"/>
            <a:chExt cx="2032000" cy="1099185"/>
          </a:xfrm>
        </p:grpSpPr>
        <p:sp>
          <p:nvSpPr>
            <p:cNvPr id="3" name="object 3"/>
            <p:cNvSpPr/>
            <p:nvPr/>
          </p:nvSpPr>
          <p:spPr>
            <a:xfrm>
              <a:off x="304495" y="1333195"/>
              <a:ext cx="2019300" cy="1086485"/>
            </a:xfrm>
            <a:custGeom>
              <a:avLst/>
              <a:gdLst/>
              <a:ahLst/>
              <a:cxnLst/>
              <a:rect l="l" t="t" r="r" b="b"/>
              <a:pathLst>
                <a:path w="2019300" h="1086485">
                  <a:moveTo>
                    <a:pt x="1961388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1028700"/>
                  </a:lnTo>
                  <a:lnTo>
                    <a:pt x="4527" y="1051122"/>
                  </a:lnTo>
                  <a:lnTo>
                    <a:pt x="16873" y="1069433"/>
                  </a:lnTo>
                  <a:lnTo>
                    <a:pt x="35184" y="1081779"/>
                  </a:lnTo>
                  <a:lnTo>
                    <a:pt x="57607" y="1086307"/>
                  </a:lnTo>
                  <a:lnTo>
                    <a:pt x="1961388" y="1086307"/>
                  </a:lnTo>
                  <a:lnTo>
                    <a:pt x="1983810" y="1081779"/>
                  </a:lnTo>
                  <a:lnTo>
                    <a:pt x="2002121" y="1069433"/>
                  </a:lnTo>
                  <a:lnTo>
                    <a:pt x="2014467" y="1051122"/>
                  </a:lnTo>
                  <a:lnTo>
                    <a:pt x="2018995" y="1028700"/>
                  </a:lnTo>
                  <a:lnTo>
                    <a:pt x="2018995" y="57607"/>
                  </a:lnTo>
                  <a:lnTo>
                    <a:pt x="2014467" y="35184"/>
                  </a:lnTo>
                  <a:lnTo>
                    <a:pt x="2002121" y="16873"/>
                  </a:lnTo>
                  <a:lnTo>
                    <a:pt x="1983810" y="4527"/>
                  </a:lnTo>
                  <a:lnTo>
                    <a:pt x="1961388" y="0"/>
                  </a:lnTo>
                  <a:close/>
                </a:path>
              </a:pathLst>
            </a:custGeom>
            <a:solidFill>
              <a:srgbClr val="FFF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4495" y="1333195"/>
              <a:ext cx="2019300" cy="1086485"/>
            </a:xfrm>
            <a:custGeom>
              <a:avLst/>
              <a:gdLst/>
              <a:ahLst/>
              <a:cxnLst/>
              <a:rect l="l" t="t" r="r" b="b"/>
              <a:pathLst>
                <a:path w="2019300" h="108648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1961388" y="0"/>
                  </a:lnTo>
                  <a:lnTo>
                    <a:pt x="1983810" y="4527"/>
                  </a:lnTo>
                  <a:lnTo>
                    <a:pt x="2002121" y="16873"/>
                  </a:lnTo>
                  <a:lnTo>
                    <a:pt x="2014467" y="35184"/>
                  </a:lnTo>
                  <a:lnTo>
                    <a:pt x="2018995" y="57607"/>
                  </a:lnTo>
                  <a:lnTo>
                    <a:pt x="2018995" y="1028700"/>
                  </a:lnTo>
                  <a:lnTo>
                    <a:pt x="2014467" y="1051122"/>
                  </a:lnTo>
                  <a:lnTo>
                    <a:pt x="2002121" y="1069433"/>
                  </a:lnTo>
                  <a:lnTo>
                    <a:pt x="1983810" y="1081779"/>
                  </a:lnTo>
                  <a:lnTo>
                    <a:pt x="1961388" y="1086307"/>
                  </a:lnTo>
                  <a:lnTo>
                    <a:pt x="57607" y="1086307"/>
                  </a:lnTo>
                  <a:lnTo>
                    <a:pt x="35184" y="1081779"/>
                  </a:lnTo>
                  <a:lnTo>
                    <a:pt x="16873" y="1069433"/>
                  </a:lnTo>
                  <a:lnTo>
                    <a:pt x="4527" y="1051122"/>
                  </a:lnTo>
                  <a:lnTo>
                    <a:pt x="0" y="1028700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F5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06094" y="1409556"/>
            <a:ext cx="1802130" cy="27699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600" b="1" dirty="0">
                <a:latin typeface="Aptos"/>
              </a:rPr>
              <a:t>CMP</a:t>
            </a:r>
            <a:r>
              <a:rPr sz="1600" dirty="0">
                <a:latin typeface="Aptos"/>
              </a:rPr>
              <a:t> Mkt Cap</a:t>
            </a:r>
            <a:endParaRPr sz="1600" dirty="0">
              <a:latin typeface="Apto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19502" y="1333192"/>
            <a:ext cx="9506585" cy="1086485"/>
            <a:chOff x="2419502" y="1333192"/>
            <a:chExt cx="9506585" cy="1086485"/>
          </a:xfrm>
        </p:grpSpPr>
        <p:sp>
          <p:nvSpPr>
            <p:cNvPr id="6" name="object 6"/>
            <p:cNvSpPr/>
            <p:nvPr/>
          </p:nvSpPr>
          <p:spPr>
            <a:xfrm>
              <a:off x="2419502" y="1333192"/>
              <a:ext cx="9506585" cy="1086485"/>
            </a:xfrm>
            <a:custGeom>
              <a:avLst/>
              <a:gdLst/>
              <a:ahLst/>
              <a:cxnLst/>
              <a:rect l="l" t="t" r="r" b="b"/>
              <a:pathLst>
                <a:path w="9506585" h="1086485">
                  <a:moveTo>
                    <a:pt x="9448495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1028700"/>
                  </a:lnTo>
                  <a:lnTo>
                    <a:pt x="4527" y="1051122"/>
                  </a:lnTo>
                  <a:lnTo>
                    <a:pt x="16873" y="1069433"/>
                  </a:lnTo>
                  <a:lnTo>
                    <a:pt x="35184" y="1081779"/>
                  </a:lnTo>
                  <a:lnTo>
                    <a:pt x="57607" y="1086307"/>
                  </a:lnTo>
                  <a:lnTo>
                    <a:pt x="9448495" y="1086307"/>
                  </a:lnTo>
                  <a:lnTo>
                    <a:pt x="9470917" y="1081779"/>
                  </a:lnTo>
                  <a:lnTo>
                    <a:pt x="9489228" y="1069433"/>
                  </a:lnTo>
                  <a:lnTo>
                    <a:pt x="9501575" y="1051122"/>
                  </a:lnTo>
                  <a:lnTo>
                    <a:pt x="9506102" y="1028700"/>
                  </a:lnTo>
                  <a:lnTo>
                    <a:pt x="9506102" y="57607"/>
                  </a:lnTo>
                  <a:lnTo>
                    <a:pt x="9501575" y="35184"/>
                  </a:lnTo>
                  <a:lnTo>
                    <a:pt x="9489228" y="16873"/>
                  </a:lnTo>
                  <a:lnTo>
                    <a:pt x="9470917" y="4527"/>
                  </a:lnTo>
                  <a:lnTo>
                    <a:pt x="9448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419502" y="1333192"/>
              <a:ext cx="9506585" cy="1086485"/>
            </a:xfrm>
            <a:custGeom>
              <a:avLst/>
              <a:gdLst/>
              <a:ahLst/>
              <a:cxnLst/>
              <a:rect l="l" t="t" r="r" b="b"/>
              <a:pathLst>
                <a:path w="9506585" h="108648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9448495" y="0"/>
                  </a:lnTo>
                  <a:lnTo>
                    <a:pt x="9470917" y="4527"/>
                  </a:lnTo>
                  <a:lnTo>
                    <a:pt x="9489228" y="16873"/>
                  </a:lnTo>
                  <a:lnTo>
                    <a:pt x="9501575" y="35184"/>
                  </a:lnTo>
                  <a:lnTo>
                    <a:pt x="9506102" y="57607"/>
                  </a:lnTo>
                  <a:lnTo>
                    <a:pt x="9506102" y="1028700"/>
                  </a:lnTo>
                  <a:lnTo>
                    <a:pt x="9501575" y="1051122"/>
                  </a:lnTo>
                  <a:lnTo>
                    <a:pt x="9489228" y="1069433"/>
                  </a:lnTo>
                  <a:lnTo>
                    <a:pt x="9470917" y="1081779"/>
                  </a:lnTo>
                  <a:lnTo>
                    <a:pt x="9448495" y="1086307"/>
                  </a:lnTo>
                  <a:lnTo>
                    <a:pt x="57607" y="1086307"/>
                  </a:lnTo>
                  <a:lnTo>
                    <a:pt x="35184" y="1081779"/>
                  </a:lnTo>
                  <a:lnTo>
                    <a:pt x="16873" y="1069433"/>
                  </a:lnTo>
                  <a:lnTo>
                    <a:pt x="4527" y="1051122"/>
                  </a:lnTo>
                  <a:lnTo>
                    <a:pt x="0" y="1028700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531769" y="1390471"/>
              <a:ext cx="8968285" cy="227235"/>
            </a:xfrm>
            <a:custGeom>
              <a:avLst/>
              <a:gdLst/>
              <a:ahLst/>
              <a:cxnLst/>
              <a:rect l="l" t="t" r="r" b="b"/>
              <a:pathLst>
                <a:path w="8039734" h="190500">
                  <a:moveTo>
                    <a:pt x="1123797" y="28346"/>
                  </a:moveTo>
                  <a:lnTo>
                    <a:pt x="1121562" y="17310"/>
                  </a:lnTo>
                  <a:lnTo>
                    <a:pt x="1115491" y="8305"/>
                  </a:lnTo>
                  <a:lnTo>
                    <a:pt x="1106474" y="2222"/>
                  </a:lnTo>
                  <a:lnTo>
                    <a:pt x="1095451" y="0"/>
                  </a:lnTo>
                  <a:lnTo>
                    <a:pt x="28346" y="0"/>
                  </a:lnTo>
                  <a:lnTo>
                    <a:pt x="17310" y="2222"/>
                  </a:lnTo>
                  <a:lnTo>
                    <a:pt x="8293" y="8305"/>
                  </a:lnTo>
                  <a:lnTo>
                    <a:pt x="2222" y="17310"/>
                  </a:lnTo>
                  <a:lnTo>
                    <a:pt x="0" y="28346"/>
                  </a:lnTo>
                  <a:lnTo>
                    <a:pt x="0" y="161848"/>
                  </a:lnTo>
                  <a:lnTo>
                    <a:pt x="2222" y="172885"/>
                  </a:lnTo>
                  <a:lnTo>
                    <a:pt x="8293" y="181889"/>
                  </a:lnTo>
                  <a:lnTo>
                    <a:pt x="17310" y="187972"/>
                  </a:lnTo>
                  <a:lnTo>
                    <a:pt x="28346" y="190195"/>
                  </a:lnTo>
                  <a:lnTo>
                    <a:pt x="1095451" y="190195"/>
                  </a:lnTo>
                  <a:lnTo>
                    <a:pt x="1106474" y="187972"/>
                  </a:lnTo>
                  <a:lnTo>
                    <a:pt x="1115491" y="181889"/>
                  </a:lnTo>
                  <a:lnTo>
                    <a:pt x="1121562" y="172885"/>
                  </a:lnTo>
                  <a:lnTo>
                    <a:pt x="1123797" y="161848"/>
                  </a:lnTo>
                  <a:lnTo>
                    <a:pt x="1123797" y="28346"/>
                  </a:lnTo>
                  <a:close/>
                </a:path>
                <a:path w="8039734" h="190500">
                  <a:moveTo>
                    <a:pt x="3086100" y="28346"/>
                  </a:moveTo>
                  <a:lnTo>
                    <a:pt x="3083864" y="17310"/>
                  </a:lnTo>
                  <a:lnTo>
                    <a:pt x="3077794" y="8305"/>
                  </a:lnTo>
                  <a:lnTo>
                    <a:pt x="3068777" y="2222"/>
                  </a:lnTo>
                  <a:lnTo>
                    <a:pt x="3057753" y="0"/>
                  </a:lnTo>
                  <a:lnTo>
                    <a:pt x="2161641" y="0"/>
                  </a:lnTo>
                  <a:lnTo>
                    <a:pt x="2150605" y="2222"/>
                  </a:lnTo>
                  <a:lnTo>
                    <a:pt x="2141588" y="8305"/>
                  </a:lnTo>
                  <a:lnTo>
                    <a:pt x="2135517" y="17310"/>
                  </a:lnTo>
                  <a:lnTo>
                    <a:pt x="2133295" y="28346"/>
                  </a:lnTo>
                  <a:lnTo>
                    <a:pt x="2133295" y="161848"/>
                  </a:lnTo>
                  <a:lnTo>
                    <a:pt x="2135517" y="172885"/>
                  </a:lnTo>
                  <a:lnTo>
                    <a:pt x="2141588" y="181889"/>
                  </a:lnTo>
                  <a:lnTo>
                    <a:pt x="2150605" y="187972"/>
                  </a:lnTo>
                  <a:lnTo>
                    <a:pt x="2161641" y="190195"/>
                  </a:lnTo>
                  <a:lnTo>
                    <a:pt x="3057753" y="190195"/>
                  </a:lnTo>
                  <a:lnTo>
                    <a:pt x="3068777" y="187972"/>
                  </a:lnTo>
                  <a:lnTo>
                    <a:pt x="3077794" y="181889"/>
                  </a:lnTo>
                  <a:lnTo>
                    <a:pt x="3083864" y="172885"/>
                  </a:lnTo>
                  <a:lnTo>
                    <a:pt x="3086100" y="161848"/>
                  </a:lnTo>
                  <a:lnTo>
                    <a:pt x="3086100" y="28346"/>
                  </a:lnTo>
                  <a:close/>
                </a:path>
                <a:path w="8039734" h="190500">
                  <a:moveTo>
                    <a:pt x="5544007" y="28346"/>
                  </a:moveTo>
                  <a:lnTo>
                    <a:pt x="5541772" y="17310"/>
                  </a:lnTo>
                  <a:lnTo>
                    <a:pt x="5535701" y="8305"/>
                  </a:lnTo>
                  <a:lnTo>
                    <a:pt x="5526684" y="2222"/>
                  </a:lnTo>
                  <a:lnTo>
                    <a:pt x="5515661" y="0"/>
                  </a:lnTo>
                  <a:lnTo>
                    <a:pt x="4143146" y="0"/>
                  </a:lnTo>
                  <a:lnTo>
                    <a:pt x="4132110" y="2222"/>
                  </a:lnTo>
                  <a:lnTo>
                    <a:pt x="4123093" y="8305"/>
                  </a:lnTo>
                  <a:lnTo>
                    <a:pt x="4117022" y="17310"/>
                  </a:lnTo>
                  <a:lnTo>
                    <a:pt x="4114787" y="28346"/>
                  </a:lnTo>
                  <a:lnTo>
                    <a:pt x="4114787" y="161848"/>
                  </a:lnTo>
                  <a:lnTo>
                    <a:pt x="4117022" y="172885"/>
                  </a:lnTo>
                  <a:lnTo>
                    <a:pt x="4123093" y="181889"/>
                  </a:lnTo>
                  <a:lnTo>
                    <a:pt x="4132110" y="187972"/>
                  </a:lnTo>
                  <a:lnTo>
                    <a:pt x="4143146" y="190195"/>
                  </a:lnTo>
                  <a:lnTo>
                    <a:pt x="5515661" y="190195"/>
                  </a:lnTo>
                  <a:lnTo>
                    <a:pt x="5526684" y="187972"/>
                  </a:lnTo>
                  <a:lnTo>
                    <a:pt x="5535701" y="181889"/>
                  </a:lnTo>
                  <a:lnTo>
                    <a:pt x="5541772" y="172885"/>
                  </a:lnTo>
                  <a:lnTo>
                    <a:pt x="5544007" y="161848"/>
                  </a:lnTo>
                  <a:lnTo>
                    <a:pt x="5544007" y="28346"/>
                  </a:lnTo>
                  <a:close/>
                </a:path>
                <a:path w="8039734" h="190500">
                  <a:moveTo>
                    <a:pt x="8039405" y="28346"/>
                  </a:moveTo>
                  <a:lnTo>
                    <a:pt x="8037169" y="17310"/>
                  </a:lnTo>
                  <a:lnTo>
                    <a:pt x="8031099" y="8305"/>
                  </a:lnTo>
                  <a:lnTo>
                    <a:pt x="8022082" y="2222"/>
                  </a:lnTo>
                  <a:lnTo>
                    <a:pt x="8011058" y="0"/>
                  </a:lnTo>
                  <a:lnTo>
                    <a:pt x="6448349" y="0"/>
                  </a:lnTo>
                  <a:lnTo>
                    <a:pt x="6437312" y="2222"/>
                  </a:lnTo>
                  <a:lnTo>
                    <a:pt x="6428295" y="8305"/>
                  </a:lnTo>
                  <a:lnTo>
                    <a:pt x="6422225" y="17310"/>
                  </a:lnTo>
                  <a:lnTo>
                    <a:pt x="6420002" y="28346"/>
                  </a:lnTo>
                  <a:lnTo>
                    <a:pt x="6420002" y="161848"/>
                  </a:lnTo>
                  <a:lnTo>
                    <a:pt x="6422225" y="172885"/>
                  </a:lnTo>
                  <a:lnTo>
                    <a:pt x="6428295" y="181889"/>
                  </a:lnTo>
                  <a:lnTo>
                    <a:pt x="6437312" y="187972"/>
                  </a:lnTo>
                  <a:lnTo>
                    <a:pt x="6448349" y="190195"/>
                  </a:lnTo>
                  <a:lnTo>
                    <a:pt x="8011058" y="190195"/>
                  </a:lnTo>
                  <a:lnTo>
                    <a:pt x="8022082" y="187972"/>
                  </a:lnTo>
                  <a:lnTo>
                    <a:pt x="8031099" y="181889"/>
                  </a:lnTo>
                  <a:lnTo>
                    <a:pt x="8037169" y="172885"/>
                  </a:lnTo>
                  <a:lnTo>
                    <a:pt x="8039405" y="161848"/>
                  </a:lnTo>
                  <a:lnTo>
                    <a:pt x="8039405" y="28346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531770" y="1307461"/>
            <a:ext cx="1275080" cy="4565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0"/>
              </a:spcBef>
            </a:pPr>
            <a:r>
              <a:rPr sz="1400" b="1" dirty="0">
                <a:latin typeface="Aptos"/>
              </a:rPr>
              <a:t>Revenue FY26</a:t>
            </a:r>
            <a:endParaRPr lang="en-US" sz="1400" b="1" dirty="0">
              <a:latin typeface="Aptos"/>
            </a:endParaRPr>
          </a:p>
          <a:p>
            <a:pPr marL="79375">
              <a:lnSpc>
                <a:spcPct val="100000"/>
              </a:lnSpc>
              <a:spcBef>
                <a:spcPts val="700"/>
              </a:spcBef>
            </a:pPr>
            <a:endParaRPr sz="400" dirty="0">
              <a:latin typeface="Aptos"/>
              <a:cs typeface="Apto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90045" y="1328453"/>
            <a:ext cx="1275080" cy="30521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700"/>
              </a:spcBef>
            </a:pPr>
            <a:r>
              <a:rPr sz="1400" b="1" dirty="0">
                <a:latin typeface="Aptos"/>
              </a:rPr>
              <a:t>PAT FY26</a:t>
            </a:r>
            <a:endParaRPr lang="en-US" sz="1400" b="1" dirty="0">
              <a:latin typeface="Apto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53912" y="1317244"/>
            <a:ext cx="1428598" cy="457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700"/>
              </a:spcBef>
            </a:pPr>
            <a:endParaRPr sz="2400" b="1" dirty="0">
              <a:latin typeface="Aptos"/>
              <a:cs typeface="Apto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81614" y="1328453"/>
            <a:ext cx="1867535" cy="30521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700"/>
              </a:spcBef>
            </a:pPr>
            <a:r>
              <a:rPr sz="1400" b="1" dirty="0">
                <a:latin typeface="Aptos"/>
              </a:rPr>
              <a:t>Net Worth · Debt</a:t>
            </a:r>
            <a:endParaRPr sz="1400" b="1" dirty="0">
              <a:latin typeface="Aptos"/>
              <a:cs typeface="Apto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8145" y="2527456"/>
            <a:ext cx="5747385" cy="2699385"/>
            <a:chOff x="298145" y="2527456"/>
            <a:chExt cx="5747385" cy="2699385"/>
          </a:xfrm>
        </p:grpSpPr>
        <p:sp>
          <p:nvSpPr>
            <p:cNvPr id="10" name="object 10"/>
            <p:cNvSpPr/>
            <p:nvPr/>
          </p:nvSpPr>
          <p:spPr>
            <a:xfrm>
              <a:off x="304495" y="2533806"/>
              <a:ext cx="5734685" cy="2686685"/>
            </a:xfrm>
            <a:custGeom>
              <a:avLst/>
              <a:gdLst/>
              <a:ahLst/>
              <a:cxnLst/>
              <a:rect l="l" t="t" r="r" b="b"/>
              <a:pathLst>
                <a:path w="5734685" h="2686685">
                  <a:moveTo>
                    <a:pt x="5676607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628900"/>
                  </a:lnTo>
                  <a:lnTo>
                    <a:pt x="4527" y="2651322"/>
                  </a:lnTo>
                  <a:lnTo>
                    <a:pt x="16871" y="2669633"/>
                  </a:lnTo>
                  <a:lnTo>
                    <a:pt x="35179" y="2681979"/>
                  </a:lnTo>
                  <a:lnTo>
                    <a:pt x="57594" y="2686507"/>
                  </a:lnTo>
                  <a:lnTo>
                    <a:pt x="5676607" y="2686507"/>
                  </a:lnTo>
                  <a:lnTo>
                    <a:pt x="5699023" y="2681979"/>
                  </a:lnTo>
                  <a:lnTo>
                    <a:pt x="5717330" y="2669633"/>
                  </a:lnTo>
                  <a:lnTo>
                    <a:pt x="5729675" y="2651322"/>
                  </a:lnTo>
                  <a:lnTo>
                    <a:pt x="5734202" y="2628900"/>
                  </a:lnTo>
                  <a:lnTo>
                    <a:pt x="5734202" y="57594"/>
                  </a:lnTo>
                  <a:lnTo>
                    <a:pt x="5729675" y="35174"/>
                  </a:lnTo>
                  <a:lnTo>
                    <a:pt x="5717330" y="16867"/>
                  </a:lnTo>
                  <a:lnTo>
                    <a:pt x="5699023" y="4525"/>
                  </a:lnTo>
                  <a:lnTo>
                    <a:pt x="567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4495" y="2533806"/>
              <a:ext cx="5734685" cy="2686685"/>
            </a:xfrm>
            <a:custGeom>
              <a:avLst/>
              <a:gdLst/>
              <a:ahLst/>
              <a:cxnLst/>
              <a:rect l="l" t="t" r="r" b="b"/>
              <a:pathLst>
                <a:path w="5734685" h="268668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5676607" y="0"/>
                  </a:lnTo>
                  <a:lnTo>
                    <a:pt x="5699023" y="4525"/>
                  </a:lnTo>
                  <a:lnTo>
                    <a:pt x="5717330" y="16867"/>
                  </a:lnTo>
                  <a:lnTo>
                    <a:pt x="5729675" y="35174"/>
                  </a:lnTo>
                  <a:lnTo>
                    <a:pt x="5734202" y="57594"/>
                  </a:lnTo>
                  <a:lnTo>
                    <a:pt x="5734202" y="2628900"/>
                  </a:lnTo>
                  <a:lnTo>
                    <a:pt x="5729675" y="2651322"/>
                  </a:lnTo>
                  <a:lnTo>
                    <a:pt x="5717330" y="2669633"/>
                  </a:lnTo>
                  <a:lnTo>
                    <a:pt x="5699023" y="2681979"/>
                  </a:lnTo>
                  <a:lnTo>
                    <a:pt x="5676607" y="2686507"/>
                  </a:lnTo>
                  <a:lnTo>
                    <a:pt x="57594" y="2686507"/>
                  </a:lnTo>
                  <a:lnTo>
                    <a:pt x="35179" y="2681979"/>
                  </a:lnTo>
                  <a:lnTo>
                    <a:pt x="16871" y="2669633"/>
                  </a:lnTo>
                  <a:lnTo>
                    <a:pt x="4527" y="2651322"/>
                  </a:lnTo>
                  <a:lnTo>
                    <a:pt x="0" y="2628900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4495" y="2533797"/>
              <a:ext cx="5734685" cy="285750"/>
            </a:xfrm>
            <a:custGeom>
              <a:avLst/>
              <a:gdLst/>
              <a:ahLst/>
              <a:cxnLst/>
              <a:rect l="l" t="t" r="r" b="b"/>
              <a:pathLst>
                <a:path w="5734685" h="285750">
                  <a:moveTo>
                    <a:pt x="5701563" y="0"/>
                  </a:moveTo>
                  <a:lnTo>
                    <a:pt x="32638" y="0"/>
                  </a:lnTo>
                  <a:lnTo>
                    <a:pt x="19931" y="2565"/>
                  </a:lnTo>
                  <a:lnTo>
                    <a:pt x="9556" y="9561"/>
                  </a:lnTo>
                  <a:lnTo>
                    <a:pt x="2563" y="19936"/>
                  </a:lnTo>
                  <a:lnTo>
                    <a:pt x="0" y="32638"/>
                  </a:lnTo>
                  <a:lnTo>
                    <a:pt x="0" y="252666"/>
                  </a:lnTo>
                  <a:lnTo>
                    <a:pt x="2563" y="265367"/>
                  </a:lnTo>
                  <a:lnTo>
                    <a:pt x="9556" y="275737"/>
                  </a:lnTo>
                  <a:lnTo>
                    <a:pt x="19931" y="282729"/>
                  </a:lnTo>
                  <a:lnTo>
                    <a:pt x="32638" y="285292"/>
                  </a:lnTo>
                  <a:lnTo>
                    <a:pt x="5701563" y="285292"/>
                  </a:lnTo>
                  <a:lnTo>
                    <a:pt x="5714265" y="282729"/>
                  </a:lnTo>
                  <a:lnTo>
                    <a:pt x="5724640" y="275737"/>
                  </a:lnTo>
                  <a:lnTo>
                    <a:pt x="5731636" y="265367"/>
                  </a:lnTo>
                  <a:lnTo>
                    <a:pt x="5734202" y="252666"/>
                  </a:lnTo>
                  <a:lnTo>
                    <a:pt x="5734202" y="32638"/>
                  </a:lnTo>
                  <a:lnTo>
                    <a:pt x="5731636" y="19936"/>
                  </a:lnTo>
                  <a:lnTo>
                    <a:pt x="5724640" y="9561"/>
                  </a:lnTo>
                  <a:lnTo>
                    <a:pt x="5714265" y="2565"/>
                  </a:lnTo>
                  <a:lnTo>
                    <a:pt x="5701563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62280" y="2558312"/>
            <a:ext cx="5579897" cy="3020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26060" algn="ctr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Aptos"/>
              </a:rPr>
              <a:t>Executive Summary — Investment Thesis</a:t>
            </a:r>
            <a:endParaRPr lang="en-US" sz="1400" b="1" dirty="0">
              <a:latin typeface="Aptos"/>
            </a:endParaRPr>
          </a:p>
          <a:p>
            <a:pPr marR="226060" algn="just">
              <a:lnSpc>
                <a:spcPct val="100000"/>
              </a:lnSpc>
              <a:spcBef>
                <a:spcPts val="95"/>
              </a:spcBef>
            </a:pPr>
            <a:endParaRPr sz="400" dirty="0">
              <a:latin typeface="Aptos"/>
              <a:cs typeface="Apto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89954" y="2527457"/>
            <a:ext cx="2794635" cy="2699385"/>
            <a:chOff x="6089954" y="2527457"/>
            <a:chExt cx="2794635" cy="2699385"/>
          </a:xfrm>
        </p:grpSpPr>
        <p:sp>
          <p:nvSpPr>
            <p:cNvPr id="14" name="object 14"/>
            <p:cNvSpPr/>
            <p:nvPr/>
          </p:nvSpPr>
          <p:spPr>
            <a:xfrm>
              <a:off x="6096304" y="2533807"/>
              <a:ext cx="2781935" cy="2686685"/>
            </a:xfrm>
            <a:custGeom>
              <a:avLst/>
              <a:gdLst/>
              <a:ahLst/>
              <a:cxnLst/>
              <a:rect l="l" t="t" r="r" b="b"/>
              <a:pathLst>
                <a:path w="2781934" h="2686685">
                  <a:moveTo>
                    <a:pt x="2724010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628976"/>
                  </a:lnTo>
                  <a:lnTo>
                    <a:pt x="4527" y="2651396"/>
                  </a:lnTo>
                  <a:lnTo>
                    <a:pt x="16871" y="2669703"/>
                  </a:lnTo>
                  <a:lnTo>
                    <a:pt x="35179" y="2682045"/>
                  </a:lnTo>
                  <a:lnTo>
                    <a:pt x="57594" y="2686570"/>
                  </a:lnTo>
                  <a:lnTo>
                    <a:pt x="2724010" y="2686570"/>
                  </a:lnTo>
                  <a:lnTo>
                    <a:pt x="2746425" y="2682045"/>
                  </a:lnTo>
                  <a:lnTo>
                    <a:pt x="2764732" y="2669703"/>
                  </a:lnTo>
                  <a:lnTo>
                    <a:pt x="2777077" y="2651396"/>
                  </a:lnTo>
                  <a:lnTo>
                    <a:pt x="2781604" y="2628976"/>
                  </a:lnTo>
                  <a:lnTo>
                    <a:pt x="2781604" y="57594"/>
                  </a:lnTo>
                  <a:lnTo>
                    <a:pt x="2777077" y="35174"/>
                  </a:lnTo>
                  <a:lnTo>
                    <a:pt x="2764732" y="16867"/>
                  </a:lnTo>
                  <a:lnTo>
                    <a:pt x="2746425" y="4525"/>
                  </a:lnTo>
                  <a:lnTo>
                    <a:pt x="2724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96304" y="2533807"/>
              <a:ext cx="2781935" cy="2686685"/>
            </a:xfrm>
            <a:custGeom>
              <a:avLst/>
              <a:gdLst/>
              <a:ahLst/>
              <a:cxnLst/>
              <a:rect l="l" t="t" r="r" b="b"/>
              <a:pathLst>
                <a:path w="2781934" h="268668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2724010" y="0"/>
                  </a:lnTo>
                  <a:lnTo>
                    <a:pt x="2746425" y="4525"/>
                  </a:lnTo>
                  <a:lnTo>
                    <a:pt x="2764732" y="16867"/>
                  </a:lnTo>
                  <a:lnTo>
                    <a:pt x="2777077" y="35174"/>
                  </a:lnTo>
                  <a:lnTo>
                    <a:pt x="2781604" y="57594"/>
                  </a:lnTo>
                  <a:lnTo>
                    <a:pt x="2781604" y="2628976"/>
                  </a:lnTo>
                  <a:lnTo>
                    <a:pt x="2777077" y="2651396"/>
                  </a:lnTo>
                  <a:lnTo>
                    <a:pt x="2764732" y="2669703"/>
                  </a:lnTo>
                  <a:lnTo>
                    <a:pt x="2746425" y="2682045"/>
                  </a:lnTo>
                  <a:lnTo>
                    <a:pt x="2724010" y="2686570"/>
                  </a:lnTo>
                  <a:lnTo>
                    <a:pt x="57594" y="2686570"/>
                  </a:lnTo>
                  <a:lnTo>
                    <a:pt x="35179" y="2682045"/>
                  </a:lnTo>
                  <a:lnTo>
                    <a:pt x="16871" y="2669703"/>
                  </a:lnTo>
                  <a:lnTo>
                    <a:pt x="4527" y="2651396"/>
                  </a:lnTo>
                  <a:lnTo>
                    <a:pt x="0" y="2628976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15505" y="2546845"/>
              <a:ext cx="2762885" cy="248285"/>
            </a:xfrm>
            <a:custGeom>
              <a:avLst/>
              <a:gdLst/>
              <a:ahLst/>
              <a:cxnLst/>
              <a:rect l="l" t="t" r="r" b="b"/>
              <a:pathLst>
                <a:path w="2762884" h="248285">
                  <a:moveTo>
                    <a:pt x="2734056" y="0"/>
                  </a:moveTo>
                  <a:lnTo>
                    <a:pt x="28346" y="0"/>
                  </a:lnTo>
                  <a:lnTo>
                    <a:pt x="17311" y="2227"/>
                  </a:lnTo>
                  <a:lnTo>
                    <a:pt x="8301" y="8301"/>
                  </a:lnTo>
                  <a:lnTo>
                    <a:pt x="2227" y="17311"/>
                  </a:lnTo>
                  <a:lnTo>
                    <a:pt x="0" y="28346"/>
                  </a:lnTo>
                  <a:lnTo>
                    <a:pt x="0" y="219456"/>
                  </a:lnTo>
                  <a:lnTo>
                    <a:pt x="2227" y="230491"/>
                  </a:lnTo>
                  <a:lnTo>
                    <a:pt x="8301" y="239501"/>
                  </a:lnTo>
                  <a:lnTo>
                    <a:pt x="17311" y="245575"/>
                  </a:lnTo>
                  <a:lnTo>
                    <a:pt x="28346" y="247802"/>
                  </a:lnTo>
                  <a:lnTo>
                    <a:pt x="2734056" y="247802"/>
                  </a:lnTo>
                  <a:lnTo>
                    <a:pt x="2745091" y="245575"/>
                  </a:lnTo>
                  <a:lnTo>
                    <a:pt x="2754101" y="239501"/>
                  </a:lnTo>
                  <a:lnTo>
                    <a:pt x="2760175" y="230491"/>
                  </a:lnTo>
                  <a:lnTo>
                    <a:pt x="2762402" y="219456"/>
                  </a:lnTo>
                  <a:lnTo>
                    <a:pt x="2762402" y="28346"/>
                  </a:lnTo>
                  <a:lnTo>
                    <a:pt x="2760175" y="17311"/>
                  </a:lnTo>
                  <a:lnTo>
                    <a:pt x="2754101" y="8301"/>
                  </a:lnTo>
                  <a:lnTo>
                    <a:pt x="2745091" y="2227"/>
                  </a:lnTo>
                  <a:lnTo>
                    <a:pt x="2734056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165125" y="2551068"/>
            <a:ext cx="2644291" cy="32252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606425" algn="l">
              <a:lnSpc>
                <a:spcPct val="100000"/>
              </a:lnSpc>
              <a:spcBef>
                <a:spcPts val="155"/>
              </a:spcBef>
            </a:pPr>
            <a:r>
              <a:rPr lang="en-US" sz="1200" dirty="0">
                <a:latin typeface="Aptos"/>
              </a:rPr>
              <a:t>  </a:t>
            </a:r>
            <a:r>
              <a:rPr sz="1400" b="1" dirty="0">
                <a:latin typeface="Aptos"/>
              </a:rPr>
              <a:t>Business Snapshot</a:t>
            </a:r>
            <a:endParaRPr lang="en-US" sz="1400" b="1" dirty="0">
              <a:latin typeface="Aptos"/>
            </a:endParaRPr>
          </a:p>
          <a:p>
            <a:pPr marL="606425">
              <a:lnSpc>
                <a:spcPct val="100000"/>
              </a:lnSpc>
              <a:spcBef>
                <a:spcPts val="155"/>
              </a:spcBef>
            </a:pPr>
            <a:endParaRPr sz="400" dirty="0">
              <a:latin typeface="Aptos"/>
              <a:cs typeface="Apto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928252" y="2527456"/>
            <a:ext cx="3004185" cy="2699385"/>
            <a:chOff x="8928252" y="2527456"/>
            <a:chExt cx="3004185" cy="2699385"/>
          </a:xfrm>
        </p:grpSpPr>
        <p:sp>
          <p:nvSpPr>
            <p:cNvPr id="18" name="object 18"/>
            <p:cNvSpPr/>
            <p:nvPr/>
          </p:nvSpPr>
          <p:spPr>
            <a:xfrm>
              <a:off x="8934602" y="2533806"/>
              <a:ext cx="2991485" cy="2686685"/>
            </a:xfrm>
            <a:custGeom>
              <a:avLst/>
              <a:gdLst/>
              <a:ahLst/>
              <a:cxnLst/>
              <a:rect l="l" t="t" r="r" b="b"/>
              <a:pathLst>
                <a:path w="2991484" h="2686685">
                  <a:moveTo>
                    <a:pt x="2933407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628900"/>
                  </a:lnTo>
                  <a:lnTo>
                    <a:pt x="4527" y="2651322"/>
                  </a:lnTo>
                  <a:lnTo>
                    <a:pt x="16871" y="2669633"/>
                  </a:lnTo>
                  <a:lnTo>
                    <a:pt x="35179" y="2681979"/>
                  </a:lnTo>
                  <a:lnTo>
                    <a:pt x="57594" y="2686507"/>
                  </a:lnTo>
                  <a:lnTo>
                    <a:pt x="2933407" y="2686507"/>
                  </a:lnTo>
                  <a:lnTo>
                    <a:pt x="2955823" y="2681979"/>
                  </a:lnTo>
                  <a:lnTo>
                    <a:pt x="2974130" y="2669633"/>
                  </a:lnTo>
                  <a:lnTo>
                    <a:pt x="2986475" y="2651322"/>
                  </a:lnTo>
                  <a:lnTo>
                    <a:pt x="2991002" y="2628900"/>
                  </a:lnTo>
                  <a:lnTo>
                    <a:pt x="2991002" y="57594"/>
                  </a:lnTo>
                  <a:lnTo>
                    <a:pt x="2986475" y="35174"/>
                  </a:lnTo>
                  <a:lnTo>
                    <a:pt x="2974130" y="16867"/>
                  </a:lnTo>
                  <a:lnTo>
                    <a:pt x="2955823" y="4525"/>
                  </a:lnTo>
                  <a:lnTo>
                    <a:pt x="2933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934602" y="2533806"/>
              <a:ext cx="2991485" cy="2686685"/>
            </a:xfrm>
            <a:custGeom>
              <a:avLst/>
              <a:gdLst/>
              <a:ahLst/>
              <a:cxnLst/>
              <a:rect l="l" t="t" r="r" b="b"/>
              <a:pathLst>
                <a:path w="2991484" h="268668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2933407" y="0"/>
                  </a:lnTo>
                  <a:lnTo>
                    <a:pt x="2955823" y="4525"/>
                  </a:lnTo>
                  <a:lnTo>
                    <a:pt x="2974130" y="16867"/>
                  </a:lnTo>
                  <a:lnTo>
                    <a:pt x="2986475" y="35174"/>
                  </a:lnTo>
                  <a:lnTo>
                    <a:pt x="2991002" y="57594"/>
                  </a:lnTo>
                  <a:lnTo>
                    <a:pt x="2991002" y="2628900"/>
                  </a:lnTo>
                  <a:lnTo>
                    <a:pt x="2986475" y="2651322"/>
                  </a:lnTo>
                  <a:lnTo>
                    <a:pt x="2974130" y="2669633"/>
                  </a:lnTo>
                  <a:lnTo>
                    <a:pt x="2955823" y="2681979"/>
                  </a:lnTo>
                  <a:lnTo>
                    <a:pt x="2933407" y="2686507"/>
                  </a:lnTo>
                  <a:lnTo>
                    <a:pt x="57594" y="2686507"/>
                  </a:lnTo>
                  <a:lnTo>
                    <a:pt x="35179" y="2681979"/>
                  </a:lnTo>
                  <a:lnTo>
                    <a:pt x="16871" y="2669633"/>
                  </a:lnTo>
                  <a:lnTo>
                    <a:pt x="4527" y="2651322"/>
                  </a:lnTo>
                  <a:lnTo>
                    <a:pt x="0" y="2628900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953803" y="2550132"/>
              <a:ext cx="2971165" cy="248285"/>
            </a:xfrm>
            <a:custGeom>
              <a:avLst/>
              <a:gdLst/>
              <a:ahLst/>
              <a:cxnLst/>
              <a:rect l="l" t="t" r="r" b="b"/>
              <a:pathLst>
                <a:path w="2971165" h="248285">
                  <a:moveTo>
                    <a:pt x="2942539" y="0"/>
                  </a:moveTo>
                  <a:lnTo>
                    <a:pt x="28346" y="0"/>
                  </a:lnTo>
                  <a:lnTo>
                    <a:pt x="17311" y="2227"/>
                  </a:lnTo>
                  <a:lnTo>
                    <a:pt x="8301" y="8301"/>
                  </a:lnTo>
                  <a:lnTo>
                    <a:pt x="2227" y="17311"/>
                  </a:lnTo>
                  <a:lnTo>
                    <a:pt x="0" y="28346"/>
                  </a:lnTo>
                  <a:lnTo>
                    <a:pt x="0" y="219456"/>
                  </a:lnTo>
                  <a:lnTo>
                    <a:pt x="2227" y="230491"/>
                  </a:lnTo>
                  <a:lnTo>
                    <a:pt x="8301" y="239501"/>
                  </a:lnTo>
                  <a:lnTo>
                    <a:pt x="17311" y="245575"/>
                  </a:lnTo>
                  <a:lnTo>
                    <a:pt x="28346" y="247802"/>
                  </a:lnTo>
                  <a:lnTo>
                    <a:pt x="2942539" y="247802"/>
                  </a:lnTo>
                  <a:lnTo>
                    <a:pt x="2953574" y="245575"/>
                  </a:lnTo>
                  <a:lnTo>
                    <a:pt x="2962584" y="239501"/>
                  </a:lnTo>
                  <a:lnTo>
                    <a:pt x="2968658" y="230491"/>
                  </a:lnTo>
                  <a:lnTo>
                    <a:pt x="2970885" y="219456"/>
                  </a:lnTo>
                  <a:lnTo>
                    <a:pt x="2970885" y="28346"/>
                  </a:lnTo>
                  <a:lnTo>
                    <a:pt x="2968658" y="17311"/>
                  </a:lnTo>
                  <a:lnTo>
                    <a:pt x="2962584" y="8301"/>
                  </a:lnTo>
                  <a:lnTo>
                    <a:pt x="2953574" y="2227"/>
                  </a:lnTo>
                  <a:lnTo>
                    <a:pt x="2942539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298145" y="5327342"/>
            <a:ext cx="11633200" cy="1099185"/>
            <a:chOff x="298145" y="5327342"/>
            <a:chExt cx="11633200" cy="1099185"/>
          </a:xfrm>
        </p:grpSpPr>
        <p:sp>
          <p:nvSpPr>
            <p:cNvPr id="22" name="object 22"/>
            <p:cNvSpPr/>
            <p:nvPr/>
          </p:nvSpPr>
          <p:spPr>
            <a:xfrm>
              <a:off x="304495" y="5333692"/>
              <a:ext cx="11620500" cy="1086485"/>
            </a:xfrm>
            <a:custGeom>
              <a:avLst/>
              <a:gdLst/>
              <a:ahLst/>
              <a:cxnLst/>
              <a:rect l="l" t="t" r="r" b="b"/>
              <a:pathLst>
                <a:path w="11620500" h="108648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11562588" y="0"/>
                  </a:lnTo>
                  <a:lnTo>
                    <a:pt x="11585010" y="4527"/>
                  </a:lnTo>
                  <a:lnTo>
                    <a:pt x="11603321" y="16873"/>
                  </a:lnTo>
                  <a:lnTo>
                    <a:pt x="11615667" y="35184"/>
                  </a:lnTo>
                  <a:lnTo>
                    <a:pt x="11620195" y="57607"/>
                  </a:lnTo>
                  <a:lnTo>
                    <a:pt x="11620195" y="1028700"/>
                  </a:lnTo>
                  <a:lnTo>
                    <a:pt x="11615667" y="1051122"/>
                  </a:lnTo>
                  <a:lnTo>
                    <a:pt x="11603321" y="1069433"/>
                  </a:lnTo>
                  <a:lnTo>
                    <a:pt x="11585010" y="1081779"/>
                  </a:lnTo>
                  <a:lnTo>
                    <a:pt x="11562588" y="1086307"/>
                  </a:lnTo>
                  <a:lnTo>
                    <a:pt x="57607" y="1086307"/>
                  </a:lnTo>
                  <a:lnTo>
                    <a:pt x="35184" y="1081779"/>
                  </a:lnTo>
                  <a:lnTo>
                    <a:pt x="16873" y="1069433"/>
                  </a:lnTo>
                  <a:lnTo>
                    <a:pt x="4527" y="1051122"/>
                  </a:lnTo>
                  <a:lnTo>
                    <a:pt x="0" y="1028700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4495" y="5343751"/>
              <a:ext cx="11620500" cy="314960"/>
            </a:xfrm>
            <a:custGeom>
              <a:avLst/>
              <a:gdLst/>
              <a:ahLst/>
              <a:cxnLst/>
              <a:rect l="l" t="t" r="r" b="b"/>
              <a:pathLst>
                <a:path w="11620500" h="314960">
                  <a:moveTo>
                    <a:pt x="11584216" y="0"/>
                  </a:moveTo>
                  <a:lnTo>
                    <a:pt x="35979" y="0"/>
                  </a:lnTo>
                  <a:lnTo>
                    <a:pt x="21972" y="2826"/>
                  </a:lnTo>
                  <a:lnTo>
                    <a:pt x="10536" y="10536"/>
                  </a:lnTo>
                  <a:lnTo>
                    <a:pt x="2826" y="21972"/>
                  </a:lnTo>
                  <a:lnTo>
                    <a:pt x="0" y="35979"/>
                  </a:lnTo>
                  <a:lnTo>
                    <a:pt x="0" y="278574"/>
                  </a:lnTo>
                  <a:lnTo>
                    <a:pt x="2826" y="292581"/>
                  </a:lnTo>
                  <a:lnTo>
                    <a:pt x="10536" y="304017"/>
                  </a:lnTo>
                  <a:lnTo>
                    <a:pt x="21972" y="311726"/>
                  </a:lnTo>
                  <a:lnTo>
                    <a:pt x="35979" y="314553"/>
                  </a:lnTo>
                  <a:lnTo>
                    <a:pt x="11584216" y="314553"/>
                  </a:lnTo>
                  <a:lnTo>
                    <a:pt x="11598222" y="311726"/>
                  </a:lnTo>
                  <a:lnTo>
                    <a:pt x="11609658" y="304017"/>
                  </a:lnTo>
                  <a:lnTo>
                    <a:pt x="11617368" y="292581"/>
                  </a:lnTo>
                  <a:lnTo>
                    <a:pt x="11620195" y="278574"/>
                  </a:lnTo>
                  <a:lnTo>
                    <a:pt x="11620195" y="35979"/>
                  </a:lnTo>
                  <a:lnTo>
                    <a:pt x="11617368" y="21972"/>
                  </a:lnTo>
                  <a:lnTo>
                    <a:pt x="11609658" y="10536"/>
                  </a:lnTo>
                  <a:lnTo>
                    <a:pt x="11598222" y="2826"/>
                  </a:lnTo>
                  <a:lnTo>
                    <a:pt x="11584216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309570" y="5379515"/>
            <a:ext cx="1853229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Aptos"/>
              </a:rPr>
              <a:t>Key Watch Points</a:t>
            </a:r>
            <a:endParaRPr sz="1400" b="1" dirty="0">
              <a:latin typeface="Aptos"/>
              <a:cs typeface="Apto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4495" y="6629400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xfrm>
            <a:off x="406094" y="6581871"/>
            <a:ext cx="2641906" cy="150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COFFEE DAY ENTERPRISES</a:t>
            </a:r>
            <a:endParaRPr sz="900" dirty="0">
              <a:latin typeface="Apto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97472" y="6564409"/>
            <a:ext cx="1813560" cy="150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>
                <a:latin typeface="Aptos"/>
              </a:rPr>
              <a:t>01 | COFFEEDAY | CONFIDENTIAL</a:t>
            </a:r>
            <a:endParaRPr sz="800">
              <a:latin typeface="Aptos"/>
              <a:cs typeface="Aptos"/>
            </a:endParaRPr>
          </a:p>
        </p:txBody>
      </p:sp>
      <p:pic>
        <p:nvPicPr>
          <p:cNvPr id="45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87000" y="209398"/>
            <a:ext cx="1619401" cy="696796"/>
          </a:xfrm>
          <a:prstGeom prst="rect">
            <a:avLst/>
          </a:prstGeom>
        </p:spPr>
      </p:pic>
      <p:cxnSp>
        <p:nvCxnSpPr>
          <p:cNvPr id="47" name="Straight Connector 46"/>
          <p:cNvCxnSpPr/>
          <p:nvPr/>
        </p:nvCxnSpPr>
        <p:spPr>
          <a:xfrm>
            <a:off x="9982200" y="146951"/>
            <a:ext cx="0" cy="816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19111" y="1693597"/>
            <a:ext cx="115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7146386" y="1666184"/>
            <a:ext cx="1520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9654603" y="1673319"/>
            <a:ext cx="2145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41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30200" y="290423"/>
            <a:ext cx="164211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ptos"/>
              </a:rPr>
              <a:t>02 · SECTOR ANALYSIS</a:t>
            </a:r>
            <a:endParaRPr sz="1000" dirty="0">
              <a:latin typeface="Aptos"/>
              <a:cs typeface="Aptos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304495" y="452983"/>
            <a:ext cx="50500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ptos"/>
              </a:rPr>
              <a:t>Sector, Product Portfolio &amp; SWOT</a:t>
            </a:r>
            <a:endParaRPr sz="2400" dirty="0"/>
          </a:p>
        </p:txBody>
      </p:sp>
      <p:grpSp>
        <p:nvGrpSpPr>
          <p:cNvPr id="2" name="object 2"/>
          <p:cNvGrpSpPr/>
          <p:nvPr/>
        </p:nvGrpSpPr>
        <p:grpSpPr>
          <a:xfrm>
            <a:off x="306225" y="903871"/>
            <a:ext cx="3721917" cy="2505926"/>
            <a:chOff x="304495" y="903871"/>
            <a:chExt cx="2924810" cy="2411164"/>
          </a:xfrm>
        </p:grpSpPr>
        <p:sp>
          <p:nvSpPr>
            <p:cNvPr id="3" name="object 3"/>
            <p:cNvSpPr/>
            <p:nvPr/>
          </p:nvSpPr>
          <p:spPr>
            <a:xfrm>
              <a:off x="304495" y="990300"/>
              <a:ext cx="2924810" cy="2324735"/>
            </a:xfrm>
            <a:custGeom>
              <a:avLst/>
              <a:gdLst/>
              <a:ahLst/>
              <a:cxnLst/>
              <a:rect l="l" t="t" r="r" b="b"/>
              <a:pathLst>
                <a:path w="2924810" h="2324735">
                  <a:moveTo>
                    <a:pt x="2866656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266797"/>
                  </a:lnTo>
                  <a:lnTo>
                    <a:pt x="4527" y="2289220"/>
                  </a:lnTo>
                  <a:lnTo>
                    <a:pt x="16871" y="2307531"/>
                  </a:lnTo>
                  <a:lnTo>
                    <a:pt x="35179" y="2319877"/>
                  </a:lnTo>
                  <a:lnTo>
                    <a:pt x="57594" y="2324404"/>
                  </a:lnTo>
                  <a:lnTo>
                    <a:pt x="2866656" y="2324404"/>
                  </a:lnTo>
                  <a:lnTo>
                    <a:pt x="2889071" y="2319877"/>
                  </a:lnTo>
                  <a:lnTo>
                    <a:pt x="2907379" y="2307531"/>
                  </a:lnTo>
                  <a:lnTo>
                    <a:pt x="2919724" y="2289220"/>
                  </a:lnTo>
                  <a:lnTo>
                    <a:pt x="2924251" y="2266797"/>
                  </a:lnTo>
                  <a:lnTo>
                    <a:pt x="2924251" y="57594"/>
                  </a:lnTo>
                  <a:lnTo>
                    <a:pt x="2919724" y="35174"/>
                  </a:lnTo>
                  <a:lnTo>
                    <a:pt x="2907379" y="16867"/>
                  </a:lnTo>
                  <a:lnTo>
                    <a:pt x="2889071" y="4525"/>
                  </a:lnTo>
                  <a:lnTo>
                    <a:pt x="286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4495" y="990300"/>
              <a:ext cx="2924810" cy="2324735"/>
            </a:xfrm>
            <a:custGeom>
              <a:avLst/>
              <a:gdLst/>
              <a:ahLst/>
              <a:cxnLst/>
              <a:rect l="l" t="t" r="r" b="b"/>
              <a:pathLst>
                <a:path w="2924810" h="232473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2866656" y="0"/>
                  </a:lnTo>
                  <a:lnTo>
                    <a:pt x="2889071" y="4525"/>
                  </a:lnTo>
                  <a:lnTo>
                    <a:pt x="2907379" y="16867"/>
                  </a:lnTo>
                  <a:lnTo>
                    <a:pt x="2919724" y="35174"/>
                  </a:lnTo>
                  <a:lnTo>
                    <a:pt x="2924251" y="57594"/>
                  </a:lnTo>
                  <a:lnTo>
                    <a:pt x="2924251" y="2266797"/>
                  </a:lnTo>
                  <a:lnTo>
                    <a:pt x="2919724" y="2289220"/>
                  </a:lnTo>
                  <a:lnTo>
                    <a:pt x="2907379" y="2307531"/>
                  </a:lnTo>
                  <a:lnTo>
                    <a:pt x="2889071" y="2319877"/>
                  </a:lnTo>
                  <a:lnTo>
                    <a:pt x="2866656" y="2324404"/>
                  </a:lnTo>
                  <a:lnTo>
                    <a:pt x="57594" y="2324404"/>
                  </a:lnTo>
                  <a:lnTo>
                    <a:pt x="35179" y="2319877"/>
                  </a:lnTo>
                  <a:lnTo>
                    <a:pt x="16871" y="2307531"/>
                  </a:lnTo>
                  <a:lnTo>
                    <a:pt x="4527" y="2289220"/>
                  </a:lnTo>
                  <a:lnTo>
                    <a:pt x="0" y="2266797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4495" y="903871"/>
              <a:ext cx="2924810" cy="305435"/>
            </a:xfrm>
            <a:custGeom>
              <a:avLst/>
              <a:gdLst/>
              <a:ahLst/>
              <a:cxnLst/>
              <a:rect l="l" t="t" r="r" b="b"/>
              <a:pathLst>
                <a:path w="2924810" h="305434">
                  <a:moveTo>
                    <a:pt x="2886379" y="0"/>
                  </a:moveTo>
                  <a:lnTo>
                    <a:pt x="37871" y="0"/>
                  </a:lnTo>
                  <a:lnTo>
                    <a:pt x="23129" y="2975"/>
                  </a:lnTo>
                  <a:lnTo>
                    <a:pt x="11091" y="11091"/>
                  </a:lnTo>
                  <a:lnTo>
                    <a:pt x="2975" y="23129"/>
                  </a:lnTo>
                  <a:lnTo>
                    <a:pt x="0" y="37871"/>
                  </a:lnTo>
                  <a:lnTo>
                    <a:pt x="0" y="267538"/>
                  </a:lnTo>
                  <a:lnTo>
                    <a:pt x="2975" y="282279"/>
                  </a:lnTo>
                  <a:lnTo>
                    <a:pt x="11091" y="294317"/>
                  </a:lnTo>
                  <a:lnTo>
                    <a:pt x="23129" y="302433"/>
                  </a:lnTo>
                  <a:lnTo>
                    <a:pt x="37871" y="305409"/>
                  </a:lnTo>
                  <a:lnTo>
                    <a:pt x="2886379" y="305409"/>
                  </a:lnTo>
                  <a:lnTo>
                    <a:pt x="2901121" y="302433"/>
                  </a:lnTo>
                  <a:lnTo>
                    <a:pt x="2913159" y="294317"/>
                  </a:lnTo>
                  <a:lnTo>
                    <a:pt x="2921275" y="282279"/>
                  </a:lnTo>
                  <a:lnTo>
                    <a:pt x="2924251" y="267538"/>
                  </a:lnTo>
                  <a:lnTo>
                    <a:pt x="2924251" y="37871"/>
                  </a:lnTo>
                  <a:lnTo>
                    <a:pt x="2921275" y="23129"/>
                  </a:lnTo>
                  <a:lnTo>
                    <a:pt x="2913159" y="11091"/>
                  </a:lnTo>
                  <a:lnTo>
                    <a:pt x="2901121" y="2975"/>
                  </a:lnTo>
                  <a:lnTo>
                    <a:pt x="2886379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097701" y="903619"/>
            <a:ext cx="4829000" cy="2506862"/>
            <a:chOff x="3286352" y="906779"/>
            <a:chExt cx="5639436" cy="2408256"/>
          </a:xfrm>
        </p:grpSpPr>
        <p:sp>
          <p:nvSpPr>
            <p:cNvPr id="7" name="object 7"/>
            <p:cNvSpPr/>
            <p:nvPr/>
          </p:nvSpPr>
          <p:spPr>
            <a:xfrm>
              <a:off x="3286353" y="990300"/>
              <a:ext cx="5639435" cy="2324735"/>
            </a:xfrm>
            <a:custGeom>
              <a:avLst/>
              <a:gdLst/>
              <a:ahLst/>
              <a:cxnLst/>
              <a:rect l="l" t="t" r="r" b="b"/>
              <a:pathLst>
                <a:path w="5639434" h="2324735">
                  <a:moveTo>
                    <a:pt x="5581510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266797"/>
                  </a:lnTo>
                  <a:lnTo>
                    <a:pt x="4527" y="2289220"/>
                  </a:lnTo>
                  <a:lnTo>
                    <a:pt x="16871" y="2307531"/>
                  </a:lnTo>
                  <a:lnTo>
                    <a:pt x="35179" y="2319877"/>
                  </a:lnTo>
                  <a:lnTo>
                    <a:pt x="57594" y="2324404"/>
                  </a:lnTo>
                  <a:lnTo>
                    <a:pt x="5581510" y="2324404"/>
                  </a:lnTo>
                  <a:lnTo>
                    <a:pt x="5603925" y="2319877"/>
                  </a:lnTo>
                  <a:lnTo>
                    <a:pt x="5622232" y="2307531"/>
                  </a:lnTo>
                  <a:lnTo>
                    <a:pt x="5634577" y="2289220"/>
                  </a:lnTo>
                  <a:lnTo>
                    <a:pt x="5639104" y="2266797"/>
                  </a:lnTo>
                  <a:lnTo>
                    <a:pt x="5639104" y="57594"/>
                  </a:lnTo>
                  <a:lnTo>
                    <a:pt x="5634577" y="35174"/>
                  </a:lnTo>
                  <a:lnTo>
                    <a:pt x="5622232" y="16867"/>
                  </a:lnTo>
                  <a:lnTo>
                    <a:pt x="5603925" y="4525"/>
                  </a:lnTo>
                  <a:lnTo>
                    <a:pt x="55815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86353" y="990300"/>
              <a:ext cx="5639435" cy="2324735"/>
            </a:xfrm>
            <a:custGeom>
              <a:avLst/>
              <a:gdLst/>
              <a:ahLst/>
              <a:cxnLst/>
              <a:rect l="l" t="t" r="r" b="b"/>
              <a:pathLst>
                <a:path w="5639434" h="232473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5581510" y="0"/>
                  </a:lnTo>
                  <a:lnTo>
                    <a:pt x="5603925" y="4525"/>
                  </a:lnTo>
                  <a:lnTo>
                    <a:pt x="5622232" y="16867"/>
                  </a:lnTo>
                  <a:lnTo>
                    <a:pt x="5634577" y="35174"/>
                  </a:lnTo>
                  <a:lnTo>
                    <a:pt x="5639104" y="57594"/>
                  </a:lnTo>
                  <a:lnTo>
                    <a:pt x="5639104" y="2266797"/>
                  </a:lnTo>
                  <a:lnTo>
                    <a:pt x="5634577" y="2289220"/>
                  </a:lnTo>
                  <a:lnTo>
                    <a:pt x="5622232" y="2307531"/>
                  </a:lnTo>
                  <a:lnTo>
                    <a:pt x="5603925" y="2319877"/>
                  </a:lnTo>
                  <a:lnTo>
                    <a:pt x="5581510" y="2324404"/>
                  </a:lnTo>
                  <a:lnTo>
                    <a:pt x="57594" y="2324404"/>
                  </a:lnTo>
                  <a:lnTo>
                    <a:pt x="35179" y="2319877"/>
                  </a:lnTo>
                  <a:lnTo>
                    <a:pt x="16871" y="2307531"/>
                  </a:lnTo>
                  <a:lnTo>
                    <a:pt x="4527" y="2289220"/>
                  </a:lnTo>
                  <a:lnTo>
                    <a:pt x="0" y="2266797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86352" y="906779"/>
              <a:ext cx="5639435" cy="305435"/>
            </a:xfrm>
            <a:custGeom>
              <a:avLst/>
              <a:gdLst/>
              <a:ahLst/>
              <a:cxnLst/>
              <a:rect l="l" t="t" r="r" b="b"/>
              <a:pathLst>
                <a:path w="5639434" h="305434">
                  <a:moveTo>
                    <a:pt x="5601233" y="0"/>
                  </a:moveTo>
                  <a:lnTo>
                    <a:pt x="37871" y="0"/>
                  </a:lnTo>
                  <a:lnTo>
                    <a:pt x="23129" y="2975"/>
                  </a:lnTo>
                  <a:lnTo>
                    <a:pt x="11091" y="11091"/>
                  </a:lnTo>
                  <a:lnTo>
                    <a:pt x="2975" y="23129"/>
                  </a:lnTo>
                  <a:lnTo>
                    <a:pt x="0" y="37871"/>
                  </a:lnTo>
                  <a:lnTo>
                    <a:pt x="0" y="267538"/>
                  </a:lnTo>
                  <a:lnTo>
                    <a:pt x="2975" y="282279"/>
                  </a:lnTo>
                  <a:lnTo>
                    <a:pt x="11091" y="294317"/>
                  </a:lnTo>
                  <a:lnTo>
                    <a:pt x="23129" y="302433"/>
                  </a:lnTo>
                  <a:lnTo>
                    <a:pt x="37871" y="305409"/>
                  </a:lnTo>
                  <a:lnTo>
                    <a:pt x="5601233" y="305409"/>
                  </a:lnTo>
                  <a:lnTo>
                    <a:pt x="5615975" y="302433"/>
                  </a:lnTo>
                  <a:lnTo>
                    <a:pt x="5628012" y="294317"/>
                  </a:lnTo>
                  <a:lnTo>
                    <a:pt x="5636128" y="282279"/>
                  </a:lnTo>
                  <a:lnTo>
                    <a:pt x="5639104" y="267538"/>
                  </a:lnTo>
                  <a:lnTo>
                    <a:pt x="5639104" y="37871"/>
                  </a:lnTo>
                  <a:lnTo>
                    <a:pt x="5636128" y="23129"/>
                  </a:lnTo>
                  <a:lnTo>
                    <a:pt x="5628012" y="11091"/>
                  </a:lnTo>
                  <a:lnTo>
                    <a:pt x="5615975" y="2975"/>
                  </a:lnTo>
                  <a:lnTo>
                    <a:pt x="5601233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988911" y="903013"/>
            <a:ext cx="3039083" cy="2506129"/>
            <a:chOff x="8982150" y="905731"/>
            <a:chExt cx="2943860" cy="2409301"/>
          </a:xfrm>
        </p:grpSpPr>
        <p:sp>
          <p:nvSpPr>
            <p:cNvPr id="11" name="object 11"/>
            <p:cNvSpPr/>
            <p:nvPr/>
          </p:nvSpPr>
          <p:spPr>
            <a:xfrm>
              <a:off x="8982150" y="990297"/>
              <a:ext cx="2943860" cy="2324735"/>
            </a:xfrm>
            <a:custGeom>
              <a:avLst/>
              <a:gdLst/>
              <a:ahLst/>
              <a:cxnLst/>
              <a:rect l="l" t="t" r="r" b="b"/>
              <a:pathLst>
                <a:path w="2943859" h="2324735">
                  <a:moveTo>
                    <a:pt x="2885859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266810"/>
                  </a:lnTo>
                  <a:lnTo>
                    <a:pt x="4527" y="2289225"/>
                  </a:lnTo>
                  <a:lnTo>
                    <a:pt x="16871" y="2307532"/>
                  </a:lnTo>
                  <a:lnTo>
                    <a:pt x="35179" y="2319877"/>
                  </a:lnTo>
                  <a:lnTo>
                    <a:pt x="57594" y="2324404"/>
                  </a:lnTo>
                  <a:lnTo>
                    <a:pt x="2885859" y="2324404"/>
                  </a:lnTo>
                  <a:lnTo>
                    <a:pt x="2908279" y="2319877"/>
                  </a:lnTo>
                  <a:lnTo>
                    <a:pt x="2926586" y="2307532"/>
                  </a:lnTo>
                  <a:lnTo>
                    <a:pt x="2938928" y="2289225"/>
                  </a:lnTo>
                  <a:lnTo>
                    <a:pt x="2943453" y="2266810"/>
                  </a:lnTo>
                  <a:lnTo>
                    <a:pt x="2943453" y="57594"/>
                  </a:lnTo>
                  <a:lnTo>
                    <a:pt x="2938928" y="35174"/>
                  </a:lnTo>
                  <a:lnTo>
                    <a:pt x="2926586" y="16867"/>
                  </a:lnTo>
                  <a:lnTo>
                    <a:pt x="2908279" y="4525"/>
                  </a:lnTo>
                  <a:lnTo>
                    <a:pt x="2885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8982150" y="990297"/>
              <a:ext cx="2943860" cy="2324735"/>
            </a:xfrm>
            <a:custGeom>
              <a:avLst/>
              <a:gdLst/>
              <a:ahLst/>
              <a:cxnLst/>
              <a:rect l="l" t="t" r="r" b="b"/>
              <a:pathLst>
                <a:path w="2943859" h="232473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2885859" y="0"/>
                  </a:lnTo>
                  <a:lnTo>
                    <a:pt x="2908279" y="4525"/>
                  </a:lnTo>
                  <a:lnTo>
                    <a:pt x="2926586" y="16867"/>
                  </a:lnTo>
                  <a:lnTo>
                    <a:pt x="2938928" y="35174"/>
                  </a:lnTo>
                  <a:lnTo>
                    <a:pt x="2943453" y="57594"/>
                  </a:lnTo>
                  <a:lnTo>
                    <a:pt x="2943453" y="2266810"/>
                  </a:lnTo>
                  <a:lnTo>
                    <a:pt x="2938928" y="2289225"/>
                  </a:lnTo>
                  <a:lnTo>
                    <a:pt x="2926586" y="2307532"/>
                  </a:lnTo>
                  <a:lnTo>
                    <a:pt x="2908279" y="2319877"/>
                  </a:lnTo>
                  <a:lnTo>
                    <a:pt x="2885859" y="2324404"/>
                  </a:lnTo>
                  <a:lnTo>
                    <a:pt x="57594" y="2324404"/>
                  </a:lnTo>
                  <a:lnTo>
                    <a:pt x="35179" y="2319877"/>
                  </a:lnTo>
                  <a:lnTo>
                    <a:pt x="16871" y="2307532"/>
                  </a:lnTo>
                  <a:lnTo>
                    <a:pt x="4527" y="2289225"/>
                  </a:lnTo>
                  <a:lnTo>
                    <a:pt x="0" y="2266810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8982150" y="905731"/>
              <a:ext cx="2943860" cy="306823"/>
            </a:xfrm>
            <a:custGeom>
              <a:avLst/>
              <a:gdLst/>
              <a:ahLst/>
              <a:cxnLst/>
              <a:rect l="l" t="t" r="r" b="b"/>
              <a:pathLst>
                <a:path w="2943859" h="323850">
                  <a:moveTo>
                    <a:pt x="2903321" y="0"/>
                  </a:moveTo>
                  <a:lnTo>
                    <a:pt x="40132" y="0"/>
                  </a:lnTo>
                  <a:lnTo>
                    <a:pt x="24511" y="3154"/>
                  </a:lnTo>
                  <a:lnTo>
                    <a:pt x="11755" y="11755"/>
                  </a:lnTo>
                  <a:lnTo>
                    <a:pt x="3154" y="24511"/>
                  </a:lnTo>
                  <a:lnTo>
                    <a:pt x="0" y="40132"/>
                  </a:lnTo>
                  <a:lnTo>
                    <a:pt x="0" y="283552"/>
                  </a:lnTo>
                  <a:lnTo>
                    <a:pt x="3154" y="299180"/>
                  </a:lnTo>
                  <a:lnTo>
                    <a:pt x="11755" y="311940"/>
                  </a:lnTo>
                  <a:lnTo>
                    <a:pt x="24511" y="320543"/>
                  </a:lnTo>
                  <a:lnTo>
                    <a:pt x="40132" y="323697"/>
                  </a:lnTo>
                  <a:lnTo>
                    <a:pt x="2903321" y="323697"/>
                  </a:lnTo>
                  <a:lnTo>
                    <a:pt x="2918941" y="320543"/>
                  </a:lnTo>
                  <a:lnTo>
                    <a:pt x="2931698" y="311940"/>
                  </a:lnTo>
                  <a:lnTo>
                    <a:pt x="2940299" y="299180"/>
                  </a:lnTo>
                  <a:lnTo>
                    <a:pt x="2943453" y="283552"/>
                  </a:lnTo>
                  <a:lnTo>
                    <a:pt x="2943453" y="40132"/>
                  </a:lnTo>
                  <a:lnTo>
                    <a:pt x="2940299" y="24511"/>
                  </a:lnTo>
                  <a:lnTo>
                    <a:pt x="2931698" y="11755"/>
                  </a:lnTo>
                  <a:lnTo>
                    <a:pt x="2918941" y="3154"/>
                  </a:lnTo>
                  <a:lnTo>
                    <a:pt x="2903321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600" b="1" dirty="0">
                  <a:latin typeface="Aptos"/>
                </a:rPr>
                <a:t>Operating Footprint</a:t>
              </a:r>
              <a:endParaRPr lang="en-IN" sz="2800" b="1" dirty="0">
                <a:latin typeface="Aptos"/>
                <a:cs typeface="Aptos"/>
              </a:endParaRPr>
            </a:p>
            <a:p>
              <a:endParaRPr b="1" dirty="0"/>
            </a:p>
          </p:txBody>
        </p:sp>
      </p:grpSp>
      <p:sp>
        <p:nvSpPr>
          <p:cNvPr id="14" name="object 14"/>
          <p:cNvSpPr/>
          <p:nvPr/>
        </p:nvSpPr>
        <p:spPr>
          <a:xfrm>
            <a:off x="304495" y="3409797"/>
            <a:ext cx="11696012" cy="267335"/>
          </a:xfrm>
          <a:custGeom>
            <a:avLst/>
            <a:gdLst/>
            <a:ahLst/>
            <a:cxnLst/>
            <a:rect l="l" t="t" r="r" b="b"/>
            <a:pathLst>
              <a:path w="11602085" h="267335">
                <a:moveTo>
                  <a:pt x="11573560" y="0"/>
                </a:moveTo>
                <a:lnTo>
                  <a:pt x="28346" y="0"/>
                </a:lnTo>
                <a:lnTo>
                  <a:pt x="17311" y="2227"/>
                </a:lnTo>
                <a:lnTo>
                  <a:pt x="8301" y="8301"/>
                </a:lnTo>
                <a:lnTo>
                  <a:pt x="2227" y="17311"/>
                </a:lnTo>
                <a:lnTo>
                  <a:pt x="0" y="28346"/>
                </a:lnTo>
                <a:lnTo>
                  <a:pt x="0" y="238658"/>
                </a:lnTo>
                <a:lnTo>
                  <a:pt x="2227" y="249693"/>
                </a:lnTo>
                <a:lnTo>
                  <a:pt x="8301" y="258703"/>
                </a:lnTo>
                <a:lnTo>
                  <a:pt x="17311" y="264777"/>
                </a:lnTo>
                <a:lnTo>
                  <a:pt x="28346" y="267004"/>
                </a:lnTo>
                <a:lnTo>
                  <a:pt x="11573560" y="267004"/>
                </a:lnTo>
                <a:lnTo>
                  <a:pt x="11584596" y="264777"/>
                </a:lnTo>
                <a:lnTo>
                  <a:pt x="11593606" y="258703"/>
                </a:lnTo>
                <a:lnTo>
                  <a:pt x="11599680" y="249693"/>
                </a:lnTo>
                <a:lnTo>
                  <a:pt x="11601907" y="238658"/>
                </a:lnTo>
                <a:lnTo>
                  <a:pt x="11601907" y="28346"/>
                </a:lnTo>
                <a:lnTo>
                  <a:pt x="11599680" y="17311"/>
                </a:lnTo>
                <a:lnTo>
                  <a:pt x="11593606" y="8301"/>
                </a:lnTo>
                <a:lnTo>
                  <a:pt x="11584596" y="2227"/>
                </a:lnTo>
                <a:lnTo>
                  <a:pt x="11573560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385420" y="3417746"/>
            <a:ext cx="15728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ptos"/>
              </a:rPr>
              <a:t>SWOT Analysis</a:t>
            </a:r>
            <a:endParaRPr sz="4000" b="1" dirty="0">
              <a:latin typeface="Aptos"/>
              <a:cs typeface="Apto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4494" y="3788857"/>
            <a:ext cx="5734686" cy="1354799"/>
            <a:chOff x="304494" y="3788857"/>
            <a:chExt cx="5734686" cy="1354799"/>
          </a:xfrm>
        </p:grpSpPr>
        <p:sp>
          <p:nvSpPr>
            <p:cNvPr id="16" name="object 16"/>
            <p:cNvSpPr/>
            <p:nvPr/>
          </p:nvSpPr>
          <p:spPr>
            <a:xfrm>
              <a:off x="304495" y="3791106"/>
              <a:ext cx="5734685" cy="1352550"/>
            </a:xfrm>
            <a:custGeom>
              <a:avLst/>
              <a:gdLst/>
              <a:ahLst/>
              <a:cxnLst/>
              <a:rect l="l" t="t" r="r" b="b"/>
              <a:pathLst>
                <a:path w="5734685" h="1352550">
                  <a:moveTo>
                    <a:pt x="5676595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1294777"/>
                  </a:lnTo>
                  <a:lnTo>
                    <a:pt x="4527" y="1317207"/>
                  </a:lnTo>
                  <a:lnTo>
                    <a:pt x="16873" y="1335522"/>
                  </a:lnTo>
                  <a:lnTo>
                    <a:pt x="35184" y="1347870"/>
                  </a:lnTo>
                  <a:lnTo>
                    <a:pt x="57607" y="1352397"/>
                  </a:lnTo>
                  <a:lnTo>
                    <a:pt x="5676595" y="1352397"/>
                  </a:lnTo>
                  <a:lnTo>
                    <a:pt x="5699017" y="1347870"/>
                  </a:lnTo>
                  <a:lnTo>
                    <a:pt x="5717328" y="1335522"/>
                  </a:lnTo>
                  <a:lnTo>
                    <a:pt x="5729675" y="1317207"/>
                  </a:lnTo>
                  <a:lnTo>
                    <a:pt x="5734202" y="1294777"/>
                  </a:lnTo>
                  <a:lnTo>
                    <a:pt x="5734202" y="57607"/>
                  </a:lnTo>
                  <a:lnTo>
                    <a:pt x="5729675" y="35184"/>
                  </a:lnTo>
                  <a:lnTo>
                    <a:pt x="5717328" y="16873"/>
                  </a:lnTo>
                  <a:lnTo>
                    <a:pt x="5699017" y="4527"/>
                  </a:lnTo>
                  <a:lnTo>
                    <a:pt x="5676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4495" y="3791106"/>
              <a:ext cx="5734685" cy="1352550"/>
            </a:xfrm>
            <a:custGeom>
              <a:avLst/>
              <a:gdLst/>
              <a:ahLst/>
              <a:cxnLst/>
              <a:rect l="l" t="t" r="r" b="b"/>
              <a:pathLst>
                <a:path w="5734685" h="13525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5676595" y="0"/>
                  </a:lnTo>
                  <a:lnTo>
                    <a:pt x="5699017" y="4527"/>
                  </a:lnTo>
                  <a:lnTo>
                    <a:pt x="5717328" y="16873"/>
                  </a:lnTo>
                  <a:lnTo>
                    <a:pt x="5729675" y="35184"/>
                  </a:lnTo>
                  <a:lnTo>
                    <a:pt x="5734202" y="57607"/>
                  </a:lnTo>
                  <a:lnTo>
                    <a:pt x="5734202" y="1294777"/>
                  </a:lnTo>
                  <a:lnTo>
                    <a:pt x="5729675" y="1317207"/>
                  </a:lnTo>
                  <a:lnTo>
                    <a:pt x="5717328" y="1335522"/>
                  </a:lnTo>
                  <a:lnTo>
                    <a:pt x="5699017" y="1347870"/>
                  </a:lnTo>
                  <a:lnTo>
                    <a:pt x="5676595" y="1352397"/>
                  </a:lnTo>
                  <a:lnTo>
                    <a:pt x="57607" y="1352397"/>
                  </a:lnTo>
                  <a:lnTo>
                    <a:pt x="35184" y="1347870"/>
                  </a:lnTo>
                  <a:lnTo>
                    <a:pt x="16873" y="1335522"/>
                  </a:lnTo>
                  <a:lnTo>
                    <a:pt x="4527" y="1317207"/>
                  </a:lnTo>
                  <a:lnTo>
                    <a:pt x="0" y="1294777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4494" y="3788857"/>
              <a:ext cx="5734355" cy="287689"/>
            </a:xfrm>
            <a:custGeom>
              <a:avLst/>
              <a:gdLst/>
              <a:ahLst/>
              <a:cxnLst/>
              <a:rect l="l" t="t" r="r" b="b"/>
              <a:pathLst>
                <a:path w="5486400" h="209550">
                  <a:moveTo>
                    <a:pt x="5458053" y="0"/>
                  </a:moveTo>
                  <a:lnTo>
                    <a:pt x="28346" y="0"/>
                  </a:lnTo>
                  <a:lnTo>
                    <a:pt x="17311" y="2227"/>
                  </a:lnTo>
                  <a:lnTo>
                    <a:pt x="8301" y="8301"/>
                  </a:lnTo>
                  <a:lnTo>
                    <a:pt x="2227" y="17311"/>
                  </a:lnTo>
                  <a:lnTo>
                    <a:pt x="0" y="28346"/>
                  </a:lnTo>
                  <a:lnTo>
                    <a:pt x="0" y="181051"/>
                  </a:lnTo>
                  <a:lnTo>
                    <a:pt x="2227" y="192086"/>
                  </a:lnTo>
                  <a:lnTo>
                    <a:pt x="8301" y="201096"/>
                  </a:lnTo>
                  <a:lnTo>
                    <a:pt x="17311" y="207170"/>
                  </a:lnTo>
                  <a:lnTo>
                    <a:pt x="28346" y="209397"/>
                  </a:lnTo>
                  <a:lnTo>
                    <a:pt x="5458053" y="209397"/>
                  </a:lnTo>
                  <a:lnTo>
                    <a:pt x="5469088" y="207170"/>
                  </a:lnTo>
                  <a:lnTo>
                    <a:pt x="5478098" y="201096"/>
                  </a:lnTo>
                  <a:lnTo>
                    <a:pt x="5484172" y="192086"/>
                  </a:lnTo>
                  <a:lnTo>
                    <a:pt x="5486400" y="181051"/>
                  </a:lnTo>
                  <a:lnTo>
                    <a:pt x="5486400" y="28346"/>
                  </a:lnTo>
                  <a:lnTo>
                    <a:pt x="5484172" y="17311"/>
                  </a:lnTo>
                  <a:lnTo>
                    <a:pt x="5478098" y="8301"/>
                  </a:lnTo>
                  <a:lnTo>
                    <a:pt x="5469088" y="2227"/>
                  </a:lnTo>
                  <a:lnTo>
                    <a:pt x="5458053" y="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600" b="1" dirty="0">
                  <a:latin typeface="Aptos"/>
                </a:rPr>
                <a:t>STRENGTHS</a:t>
              </a:r>
              <a:endParaRPr lang="en-IN" sz="2800" b="1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172200" y="3788855"/>
            <a:ext cx="5855794" cy="1354800"/>
            <a:chOff x="6172200" y="3788855"/>
            <a:chExt cx="5753735" cy="1354800"/>
          </a:xfrm>
        </p:grpSpPr>
        <p:sp>
          <p:nvSpPr>
            <p:cNvPr id="20" name="object 20"/>
            <p:cNvSpPr/>
            <p:nvPr/>
          </p:nvSpPr>
          <p:spPr>
            <a:xfrm>
              <a:off x="6172200" y="3791105"/>
              <a:ext cx="5753735" cy="1352550"/>
            </a:xfrm>
            <a:custGeom>
              <a:avLst/>
              <a:gdLst/>
              <a:ahLst/>
              <a:cxnLst/>
              <a:rect l="l" t="t" r="r" b="b"/>
              <a:pathLst>
                <a:path w="5753734" h="1352550">
                  <a:moveTo>
                    <a:pt x="5695797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1294790"/>
                  </a:lnTo>
                  <a:lnTo>
                    <a:pt x="4527" y="1317212"/>
                  </a:lnTo>
                  <a:lnTo>
                    <a:pt x="16873" y="1335524"/>
                  </a:lnTo>
                  <a:lnTo>
                    <a:pt x="35184" y="1347870"/>
                  </a:lnTo>
                  <a:lnTo>
                    <a:pt x="57607" y="1352397"/>
                  </a:lnTo>
                  <a:lnTo>
                    <a:pt x="5695797" y="1352397"/>
                  </a:lnTo>
                  <a:lnTo>
                    <a:pt x="5718220" y="1347870"/>
                  </a:lnTo>
                  <a:lnTo>
                    <a:pt x="5736531" y="1335524"/>
                  </a:lnTo>
                  <a:lnTo>
                    <a:pt x="5748877" y="1317212"/>
                  </a:lnTo>
                  <a:lnTo>
                    <a:pt x="5753404" y="1294790"/>
                  </a:lnTo>
                  <a:lnTo>
                    <a:pt x="5753404" y="57607"/>
                  </a:lnTo>
                  <a:lnTo>
                    <a:pt x="5748877" y="35184"/>
                  </a:lnTo>
                  <a:lnTo>
                    <a:pt x="5736531" y="16873"/>
                  </a:lnTo>
                  <a:lnTo>
                    <a:pt x="5718220" y="4527"/>
                  </a:lnTo>
                  <a:lnTo>
                    <a:pt x="56957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72200" y="3791105"/>
              <a:ext cx="5753735" cy="1352550"/>
            </a:xfrm>
            <a:custGeom>
              <a:avLst/>
              <a:gdLst/>
              <a:ahLst/>
              <a:cxnLst/>
              <a:rect l="l" t="t" r="r" b="b"/>
              <a:pathLst>
                <a:path w="5753734" h="13525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5695797" y="0"/>
                  </a:lnTo>
                  <a:lnTo>
                    <a:pt x="5718220" y="4527"/>
                  </a:lnTo>
                  <a:lnTo>
                    <a:pt x="5736531" y="16873"/>
                  </a:lnTo>
                  <a:lnTo>
                    <a:pt x="5748877" y="35184"/>
                  </a:lnTo>
                  <a:lnTo>
                    <a:pt x="5753404" y="57607"/>
                  </a:lnTo>
                  <a:lnTo>
                    <a:pt x="5753404" y="1294790"/>
                  </a:lnTo>
                  <a:lnTo>
                    <a:pt x="5748877" y="1317212"/>
                  </a:lnTo>
                  <a:lnTo>
                    <a:pt x="5736531" y="1335524"/>
                  </a:lnTo>
                  <a:lnTo>
                    <a:pt x="5718220" y="1347870"/>
                  </a:lnTo>
                  <a:lnTo>
                    <a:pt x="5695797" y="1352397"/>
                  </a:lnTo>
                  <a:lnTo>
                    <a:pt x="57607" y="1352397"/>
                  </a:lnTo>
                  <a:lnTo>
                    <a:pt x="35184" y="1347870"/>
                  </a:lnTo>
                  <a:lnTo>
                    <a:pt x="16873" y="1335524"/>
                  </a:lnTo>
                  <a:lnTo>
                    <a:pt x="4527" y="1317212"/>
                  </a:lnTo>
                  <a:lnTo>
                    <a:pt x="0" y="1294790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72744" y="3788855"/>
              <a:ext cx="5753191" cy="287689"/>
            </a:xfrm>
            <a:custGeom>
              <a:avLst/>
              <a:gdLst/>
              <a:ahLst/>
              <a:cxnLst/>
              <a:rect l="l" t="t" r="r" b="b"/>
              <a:pathLst>
                <a:path w="5506084" h="209550">
                  <a:moveTo>
                    <a:pt x="5477256" y="0"/>
                  </a:moveTo>
                  <a:lnTo>
                    <a:pt x="28346" y="0"/>
                  </a:lnTo>
                  <a:lnTo>
                    <a:pt x="17311" y="2227"/>
                  </a:lnTo>
                  <a:lnTo>
                    <a:pt x="8301" y="8301"/>
                  </a:lnTo>
                  <a:lnTo>
                    <a:pt x="2227" y="17311"/>
                  </a:lnTo>
                  <a:lnTo>
                    <a:pt x="0" y="28346"/>
                  </a:lnTo>
                  <a:lnTo>
                    <a:pt x="0" y="181051"/>
                  </a:lnTo>
                  <a:lnTo>
                    <a:pt x="2227" y="192086"/>
                  </a:lnTo>
                  <a:lnTo>
                    <a:pt x="8301" y="201096"/>
                  </a:lnTo>
                  <a:lnTo>
                    <a:pt x="17311" y="207170"/>
                  </a:lnTo>
                  <a:lnTo>
                    <a:pt x="28346" y="209397"/>
                  </a:lnTo>
                  <a:lnTo>
                    <a:pt x="5477256" y="209397"/>
                  </a:lnTo>
                  <a:lnTo>
                    <a:pt x="5488291" y="207170"/>
                  </a:lnTo>
                  <a:lnTo>
                    <a:pt x="5497301" y="201096"/>
                  </a:lnTo>
                  <a:lnTo>
                    <a:pt x="5503375" y="192086"/>
                  </a:lnTo>
                  <a:lnTo>
                    <a:pt x="5505602" y="181051"/>
                  </a:lnTo>
                  <a:lnTo>
                    <a:pt x="5505602" y="28346"/>
                  </a:lnTo>
                  <a:lnTo>
                    <a:pt x="5503375" y="17311"/>
                  </a:lnTo>
                  <a:lnTo>
                    <a:pt x="5497301" y="8301"/>
                  </a:lnTo>
                  <a:lnTo>
                    <a:pt x="5488291" y="2227"/>
                  </a:lnTo>
                  <a:lnTo>
                    <a:pt x="5477256" y="0"/>
                  </a:lnTo>
                  <a:close/>
                </a:path>
              </a:pathLst>
            </a:custGeom>
            <a:solidFill>
              <a:srgbClr val="B71C1C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600" b="1" dirty="0">
                  <a:latin typeface="Aptos"/>
                </a:rPr>
                <a:t>WEAKNESSES</a:t>
              </a:r>
              <a:endParaRPr lang="en-IN" sz="1600" b="1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4494" y="5218064"/>
            <a:ext cx="5734686" cy="1353884"/>
            <a:chOff x="304494" y="5218064"/>
            <a:chExt cx="5734686" cy="1353884"/>
          </a:xfrm>
        </p:grpSpPr>
        <p:sp>
          <p:nvSpPr>
            <p:cNvPr id="24" name="object 24"/>
            <p:cNvSpPr/>
            <p:nvPr/>
          </p:nvSpPr>
          <p:spPr>
            <a:xfrm>
              <a:off x="304495" y="5219398"/>
              <a:ext cx="5734685" cy="1352550"/>
            </a:xfrm>
            <a:custGeom>
              <a:avLst/>
              <a:gdLst/>
              <a:ahLst/>
              <a:cxnLst/>
              <a:rect l="l" t="t" r="r" b="b"/>
              <a:pathLst>
                <a:path w="5734685" h="13525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5676595" y="0"/>
                  </a:lnTo>
                  <a:lnTo>
                    <a:pt x="5699017" y="4527"/>
                  </a:lnTo>
                  <a:lnTo>
                    <a:pt x="5717328" y="16873"/>
                  </a:lnTo>
                  <a:lnTo>
                    <a:pt x="5729675" y="35184"/>
                  </a:lnTo>
                  <a:lnTo>
                    <a:pt x="5734202" y="57607"/>
                  </a:lnTo>
                  <a:lnTo>
                    <a:pt x="5734202" y="1294777"/>
                  </a:lnTo>
                  <a:lnTo>
                    <a:pt x="5729675" y="1317207"/>
                  </a:lnTo>
                  <a:lnTo>
                    <a:pt x="5717328" y="1335522"/>
                  </a:lnTo>
                  <a:lnTo>
                    <a:pt x="5699017" y="1347870"/>
                  </a:lnTo>
                  <a:lnTo>
                    <a:pt x="5676595" y="1352397"/>
                  </a:lnTo>
                  <a:lnTo>
                    <a:pt x="57607" y="1352397"/>
                  </a:lnTo>
                  <a:lnTo>
                    <a:pt x="35184" y="1347870"/>
                  </a:lnTo>
                  <a:lnTo>
                    <a:pt x="16873" y="1335522"/>
                  </a:lnTo>
                  <a:lnTo>
                    <a:pt x="4527" y="1317207"/>
                  </a:lnTo>
                  <a:lnTo>
                    <a:pt x="0" y="1294777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4494" y="5218064"/>
              <a:ext cx="5734355" cy="287689"/>
            </a:xfrm>
            <a:custGeom>
              <a:avLst/>
              <a:gdLst/>
              <a:ahLst/>
              <a:cxnLst/>
              <a:rect l="l" t="t" r="r" b="b"/>
              <a:pathLst>
                <a:path w="5486400" h="209550">
                  <a:moveTo>
                    <a:pt x="5458053" y="0"/>
                  </a:moveTo>
                  <a:lnTo>
                    <a:pt x="28346" y="0"/>
                  </a:lnTo>
                  <a:lnTo>
                    <a:pt x="17311" y="2227"/>
                  </a:lnTo>
                  <a:lnTo>
                    <a:pt x="8301" y="8301"/>
                  </a:lnTo>
                  <a:lnTo>
                    <a:pt x="2227" y="17311"/>
                  </a:lnTo>
                  <a:lnTo>
                    <a:pt x="0" y="28346"/>
                  </a:lnTo>
                  <a:lnTo>
                    <a:pt x="0" y="181051"/>
                  </a:lnTo>
                  <a:lnTo>
                    <a:pt x="2227" y="192086"/>
                  </a:lnTo>
                  <a:lnTo>
                    <a:pt x="8301" y="201096"/>
                  </a:lnTo>
                  <a:lnTo>
                    <a:pt x="17311" y="207170"/>
                  </a:lnTo>
                  <a:lnTo>
                    <a:pt x="28346" y="209397"/>
                  </a:lnTo>
                  <a:lnTo>
                    <a:pt x="5458053" y="209397"/>
                  </a:lnTo>
                  <a:lnTo>
                    <a:pt x="5469088" y="207170"/>
                  </a:lnTo>
                  <a:lnTo>
                    <a:pt x="5478098" y="201096"/>
                  </a:lnTo>
                  <a:lnTo>
                    <a:pt x="5484172" y="192086"/>
                  </a:lnTo>
                  <a:lnTo>
                    <a:pt x="5486400" y="181051"/>
                  </a:lnTo>
                  <a:lnTo>
                    <a:pt x="5486400" y="28346"/>
                  </a:lnTo>
                  <a:lnTo>
                    <a:pt x="5484172" y="17311"/>
                  </a:lnTo>
                  <a:lnTo>
                    <a:pt x="5478098" y="8301"/>
                  </a:lnTo>
                  <a:lnTo>
                    <a:pt x="5469088" y="2227"/>
                  </a:lnTo>
                  <a:lnTo>
                    <a:pt x="5458053" y="0"/>
                  </a:lnTo>
                  <a:close/>
                </a:path>
              </a:pathLst>
            </a:custGeom>
            <a:solidFill>
              <a:srgbClr val="1565C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600" b="1" dirty="0">
                  <a:latin typeface="Aptos"/>
                </a:rPr>
                <a:t>OPPORTUNITIES</a:t>
              </a:r>
              <a:endParaRPr lang="en-IN" sz="2800" b="1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171868" y="5219396"/>
            <a:ext cx="5857017" cy="1352550"/>
            <a:chOff x="6171869" y="5219396"/>
            <a:chExt cx="5754066" cy="1352550"/>
          </a:xfrm>
        </p:grpSpPr>
        <p:sp>
          <p:nvSpPr>
            <p:cNvPr id="27" name="object 27"/>
            <p:cNvSpPr/>
            <p:nvPr/>
          </p:nvSpPr>
          <p:spPr>
            <a:xfrm>
              <a:off x="6172200" y="5219396"/>
              <a:ext cx="5753735" cy="1352550"/>
            </a:xfrm>
            <a:custGeom>
              <a:avLst/>
              <a:gdLst/>
              <a:ahLst/>
              <a:cxnLst/>
              <a:rect l="l" t="t" r="r" b="b"/>
              <a:pathLst>
                <a:path w="5753734" h="13525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5695797" y="0"/>
                  </a:lnTo>
                  <a:lnTo>
                    <a:pt x="5718220" y="4527"/>
                  </a:lnTo>
                  <a:lnTo>
                    <a:pt x="5736531" y="16873"/>
                  </a:lnTo>
                  <a:lnTo>
                    <a:pt x="5748877" y="35184"/>
                  </a:lnTo>
                  <a:lnTo>
                    <a:pt x="5753404" y="57607"/>
                  </a:lnTo>
                  <a:lnTo>
                    <a:pt x="5753404" y="1294790"/>
                  </a:lnTo>
                  <a:lnTo>
                    <a:pt x="5748877" y="1317212"/>
                  </a:lnTo>
                  <a:lnTo>
                    <a:pt x="5736531" y="1335524"/>
                  </a:lnTo>
                  <a:lnTo>
                    <a:pt x="5718220" y="1347870"/>
                  </a:lnTo>
                  <a:lnTo>
                    <a:pt x="5695797" y="1352397"/>
                  </a:lnTo>
                  <a:lnTo>
                    <a:pt x="57607" y="1352397"/>
                  </a:lnTo>
                  <a:lnTo>
                    <a:pt x="35184" y="1347870"/>
                  </a:lnTo>
                  <a:lnTo>
                    <a:pt x="16873" y="1335524"/>
                  </a:lnTo>
                  <a:lnTo>
                    <a:pt x="4527" y="1317212"/>
                  </a:lnTo>
                  <a:lnTo>
                    <a:pt x="0" y="1294790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71869" y="5238421"/>
              <a:ext cx="5753191" cy="267335"/>
            </a:xfrm>
            <a:custGeom>
              <a:avLst/>
              <a:gdLst/>
              <a:ahLst/>
              <a:cxnLst/>
              <a:rect l="l" t="t" r="r" b="b"/>
              <a:pathLst>
                <a:path w="5506084" h="209550">
                  <a:moveTo>
                    <a:pt x="5477256" y="0"/>
                  </a:moveTo>
                  <a:lnTo>
                    <a:pt x="28346" y="0"/>
                  </a:lnTo>
                  <a:lnTo>
                    <a:pt x="17311" y="2227"/>
                  </a:lnTo>
                  <a:lnTo>
                    <a:pt x="8301" y="8301"/>
                  </a:lnTo>
                  <a:lnTo>
                    <a:pt x="2227" y="17311"/>
                  </a:lnTo>
                  <a:lnTo>
                    <a:pt x="0" y="28346"/>
                  </a:lnTo>
                  <a:lnTo>
                    <a:pt x="0" y="181051"/>
                  </a:lnTo>
                  <a:lnTo>
                    <a:pt x="2227" y="192086"/>
                  </a:lnTo>
                  <a:lnTo>
                    <a:pt x="8301" y="201096"/>
                  </a:lnTo>
                  <a:lnTo>
                    <a:pt x="17311" y="207170"/>
                  </a:lnTo>
                  <a:lnTo>
                    <a:pt x="28346" y="209397"/>
                  </a:lnTo>
                  <a:lnTo>
                    <a:pt x="5477256" y="209397"/>
                  </a:lnTo>
                  <a:lnTo>
                    <a:pt x="5488291" y="207170"/>
                  </a:lnTo>
                  <a:lnTo>
                    <a:pt x="5497301" y="201096"/>
                  </a:lnTo>
                  <a:lnTo>
                    <a:pt x="5503375" y="192086"/>
                  </a:lnTo>
                  <a:lnTo>
                    <a:pt x="5505602" y="181051"/>
                  </a:lnTo>
                  <a:lnTo>
                    <a:pt x="5505602" y="28346"/>
                  </a:lnTo>
                  <a:lnTo>
                    <a:pt x="5503375" y="17311"/>
                  </a:lnTo>
                  <a:lnTo>
                    <a:pt x="5497301" y="8301"/>
                  </a:lnTo>
                  <a:lnTo>
                    <a:pt x="5488291" y="2227"/>
                  </a:lnTo>
                  <a:lnTo>
                    <a:pt x="5477256" y="0"/>
                  </a:lnTo>
                  <a:close/>
                </a:path>
              </a:pathLst>
            </a:custGeom>
            <a:solidFill>
              <a:srgbClr val="E651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600" b="1" dirty="0">
                  <a:latin typeface="Aptos"/>
                </a:rPr>
                <a:t>THREATS</a:t>
              </a:r>
              <a:endParaRPr lang="en-IN" sz="2800" b="1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sp>
        <p:nvSpPr>
          <p:cNvPr id="29" name="object 29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5"/>
            <a:ext cx="2495220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002520" y="6621102"/>
            <a:ext cx="1908512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02 | </a:t>
            </a:r>
            <a:r>
              <a:rPr lang="en-US" sz="900" dirty="0">
                <a:latin typeface="Aptos"/>
              </a:rPr>
              <a:t>COMPANY NAME</a:t>
            </a:r>
            <a:r>
              <a:rPr sz="900" dirty="0">
                <a:latin typeface="Aptos"/>
              </a:rPr>
              <a:t> 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44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40644" y="36570"/>
            <a:ext cx="1619401" cy="696796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609437" y="910180"/>
            <a:ext cx="43889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5590">
              <a:lnSpc>
                <a:spcPct val="100000"/>
              </a:lnSpc>
              <a:spcBef>
                <a:spcPts val="100"/>
              </a:spcBef>
            </a:pPr>
            <a:r>
              <a:rPr lang="en-IN" sz="1600" b="1" dirty="0">
                <a:latin typeface="Aptos"/>
              </a:rPr>
              <a:t>FY26 Operating Mix — Proxy</a:t>
            </a:r>
            <a:endParaRPr lang="en-IN" sz="2800" b="1" dirty="0">
              <a:latin typeface="Aptos"/>
              <a:cs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096" y="909547"/>
            <a:ext cx="42409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945">
              <a:lnSpc>
                <a:spcPct val="100000"/>
              </a:lnSpc>
              <a:spcBef>
                <a:spcPts val="870"/>
              </a:spcBef>
            </a:pPr>
            <a:r>
              <a:rPr lang="en-IN" sz="1400" b="1" dirty="0">
                <a:latin typeface="Aptos"/>
              </a:rPr>
              <a:t>Sector Tailwinds</a:t>
            </a:r>
            <a:endParaRPr lang="en-IN" sz="2400" b="1" dirty="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30200" y="290423"/>
            <a:ext cx="24453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ptos"/>
              </a:rPr>
              <a:t>03 · FINANCIAL STATEMENT ANALYSIS</a:t>
            </a:r>
            <a:endParaRPr sz="1000" dirty="0">
              <a:latin typeface="Aptos"/>
              <a:cs typeface="Aptos"/>
            </a:endParaRPr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330200" y="475800"/>
            <a:ext cx="693662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Aptos"/>
              </a:rPr>
              <a:t>P&amp;L Trend, Balance Sheet, Cash Flow &amp; Ratios</a:t>
            </a:r>
            <a:endParaRPr sz="2400" dirty="0">
              <a:latin typeface="Aptos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298145" y="983942"/>
            <a:ext cx="5416855" cy="2851150"/>
            <a:chOff x="298145" y="983942"/>
            <a:chExt cx="5747385" cy="2851150"/>
          </a:xfrm>
        </p:grpSpPr>
        <p:sp>
          <p:nvSpPr>
            <p:cNvPr id="3" name="object 3"/>
            <p:cNvSpPr/>
            <p:nvPr/>
          </p:nvSpPr>
          <p:spPr>
            <a:xfrm>
              <a:off x="304495" y="990292"/>
              <a:ext cx="5734685" cy="2838450"/>
            </a:xfrm>
            <a:custGeom>
              <a:avLst/>
              <a:gdLst/>
              <a:ahLst/>
              <a:cxnLst/>
              <a:rect l="l" t="t" r="r" b="b"/>
              <a:pathLst>
                <a:path w="5734685" h="2838450">
                  <a:moveTo>
                    <a:pt x="5676582" y="0"/>
                  </a:moveTo>
                  <a:lnTo>
                    <a:pt x="57619" y="0"/>
                  </a:lnTo>
                  <a:lnTo>
                    <a:pt x="35190" y="4527"/>
                  </a:lnTo>
                  <a:lnTo>
                    <a:pt x="16875" y="16875"/>
                  </a:lnTo>
                  <a:lnTo>
                    <a:pt x="4527" y="35190"/>
                  </a:lnTo>
                  <a:lnTo>
                    <a:pt x="0" y="57619"/>
                  </a:lnTo>
                  <a:lnTo>
                    <a:pt x="0" y="2780677"/>
                  </a:lnTo>
                  <a:lnTo>
                    <a:pt x="4527" y="2803107"/>
                  </a:lnTo>
                  <a:lnTo>
                    <a:pt x="16875" y="2821422"/>
                  </a:lnTo>
                  <a:lnTo>
                    <a:pt x="35190" y="2833770"/>
                  </a:lnTo>
                  <a:lnTo>
                    <a:pt x="57619" y="2838297"/>
                  </a:lnTo>
                  <a:lnTo>
                    <a:pt x="5676582" y="2838297"/>
                  </a:lnTo>
                  <a:lnTo>
                    <a:pt x="5699012" y="2833770"/>
                  </a:lnTo>
                  <a:lnTo>
                    <a:pt x="5717327" y="2821422"/>
                  </a:lnTo>
                  <a:lnTo>
                    <a:pt x="5729674" y="2803107"/>
                  </a:lnTo>
                  <a:lnTo>
                    <a:pt x="5734202" y="2780677"/>
                  </a:lnTo>
                  <a:lnTo>
                    <a:pt x="5734202" y="57619"/>
                  </a:lnTo>
                  <a:lnTo>
                    <a:pt x="5729674" y="35190"/>
                  </a:lnTo>
                  <a:lnTo>
                    <a:pt x="5717327" y="16875"/>
                  </a:lnTo>
                  <a:lnTo>
                    <a:pt x="5699012" y="4527"/>
                  </a:lnTo>
                  <a:lnTo>
                    <a:pt x="56765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4495" y="990292"/>
              <a:ext cx="5734685" cy="2838450"/>
            </a:xfrm>
            <a:custGeom>
              <a:avLst/>
              <a:gdLst/>
              <a:ahLst/>
              <a:cxnLst/>
              <a:rect l="l" t="t" r="r" b="b"/>
              <a:pathLst>
                <a:path w="5734685" h="2838450">
                  <a:moveTo>
                    <a:pt x="0" y="57619"/>
                  </a:moveTo>
                  <a:lnTo>
                    <a:pt x="4527" y="35190"/>
                  </a:lnTo>
                  <a:lnTo>
                    <a:pt x="16875" y="16875"/>
                  </a:lnTo>
                  <a:lnTo>
                    <a:pt x="35190" y="4527"/>
                  </a:lnTo>
                  <a:lnTo>
                    <a:pt x="57619" y="0"/>
                  </a:lnTo>
                  <a:lnTo>
                    <a:pt x="5676582" y="0"/>
                  </a:lnTo>
                  <a:lnTo>
                    <a:pt x="5699012" y="4527"/>
                  </a:lnTo>
                  <a:lnTo>
                    <a:pt x="5717327" y="16875"/>
                  </a:lnTo>
                  <a:lnTo>
                    <a:pt x="5729674" y="35190"/>
                  </a:lnTo>
                  <a:lnTo>
                    <a:pt x="5734202" y="57619"/>
                  </a:lnTo>
                  <a:lnTo>
                    <a:pt x="5734202" y="2780677"/>
                  </a:lnTo>
                  <a:lnTo>
                    <a:pt x="5729674" y="2803107"/>
                  </a:lnTo>
                  <a:lnTo>
                    <a:pt x="5717327" y="2821422"/>
                  </a:lnTo>
                  <a:lnTo>
                    <a:pt x="5699012" y="2833770"/>
                  </a:lnTo>
                  <a:lnTo>
                    <a:pt x="5676582" y="2838297"/>
                  </a:lnTo>
                  <a:lnTo>
                    <a:pt x="57619" y="2838297"/>
                  </a:lnTo>
                  <a:lnTo>
                    <a:pt x="35190" y="2833770"/>
                  </a:lnTo>
                  <a:lnTo>
                    <a:pt x="16875" y="2821422"/>
                  </a:lnTo>
                  <a:lnTo>
                    <a:pt x="4527" y="2803107"/>
                  </a:lnTo>
                  <a:lnTo>
                    <a:pt x="0" y="2780677"/>
                  </a:lnTo>
                  <a:lnTo>
                    <a:pt x="0" y="57619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3579" y="996694"/>
              <a:ext cx="5734685" cy="318770"/>
            </a:xfrm>
            <a:custGeom>
              <a:avLst/>
              <a:gdLst/>
              <a:ahLst/>
              <a:cxnLst/>
              <a:rect l="l" t="t" r="r" b="b"/>
              <a:pathLst>
                <a:path w="5734685" h="318769">
                  <a:moveTo>
                    <a:pt x="5697804" y="0"/>
                  </a:moveTo>
                  <a:lnTo>
                    <a:pt x="36398" y="0"/>
                  </a:lnTo>
                  <a:lnTo>
                    <a:pt x="22229" y="2860"/>
                  </a:lnTo>
                  <a:lnTo>
                    <a:pt x="10660" y="10660"/>
                  </a:lnTo>
                  <a:lnTo>
                    <a:pt x="2860" y="22229"/>
                  </a:lnTo>
                  <a:lnTo>
                    <a:pt x="0" y="36398"/>
                  </a:lnTo>
                  <a:lnTo>
                    <a:pt x="0" y="281812"/>
                  </a:lnTo>
                  <a:lnTo>
                    <a:pt x="2860" y="295981"/>
                  </a:lnTo>
                  <a:lnTo>
                    <a:pt x="10660" y="307551"/>
                  </a:lnTo>
                  <a:lnTo>
                    <a:pt x="22229" y="315351"/>
                  </a:lnTo>
                  <a:lnTo>
                    <a:pt x="36398" y="318211"/>
                  </a:lnTo>
                  <a:lnTo>
                    <a:pt x="5697804" y="318211"/>
                  </a:lnTo>
                  <a:lnTo>
                    <a:pt x="5711972" y="315351"/>
                  </a:lnTo>
                  <a:lnTo>
                    <a:pt x="5723542" y="307551"/>
                  </a:lnTo>
                  <a:lnTo>
                    <a:pt x="5731342" y="295981"/>
                  </a:lnTo>
                  <a:lnTo>
                    <a:pt x="5734202" y="281812"/>
                  </a:lnTo>
                  <a:lnTo>
                    <a:pt x="5734202" y="36398"/>
                  </a:lnTo>
                  <a:lnTo>
                    <a:pt x="5731342" y="22229"/>
                  </a:lnTo>
                  <a:lnTo>
                    <a:pt x="5723542" y="10660"/>
                  </a:lnTo>
                  <a:lnTo>
                    <a:pt x="5711972" y="2860"/>
                  </a:lnTo>
                  <a:lnTo>
                    <a:pt x="5697804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5796453" y="990292"/>
            <a:ext cx="3271120" cy="2838450"/>
            <a:chOff x="6115507" y="990292"/>
            <a:chExt cx="2952750" cy="2838450"/>
          </a:xfrm>
        </p:grpSpPr>
        <p:sp>
          <p:nvSpPr>
            <p:cNvPr id="7" name="object 7"/>
            <p:cNvSpPr/>
            <p:nvPr/>
          </p:nvSpPr>
          <p:spPr>
            <a:xfrm>
              <a:off x="6115507" y="990292"/>
              <a:ext cx="2952750" cy="2838450"/>
            </a:xfrm>
            <a:custGeom>
              <a:avLst/>
              <a:gdLst/>
              <a:ahLst/>
              <a:cxnLst/>
              <a:rect l="l" t="t" r="r" b="b"/>
              <a:pathLst>
                <a:path w="2952750" h="2838450">
                  <a:moveTo>
                    <a:pt x="2894977" y="0"/>
                  </a:moveTo>
                  <a:lnTo>
                    <a:pt x="57619" y="0"/>
                  </a:lnTo>
                  <a:lnTo>
                    <a:pt x="35190" y="4527"/>
                  </a:lnTo>
                  <a:lnTo>
                    <a:pt x="16875" y="16875"/>
                  </a:lnTo>
                  <a:lnTo>
                    <a:pt x="4527" y="35190"/>
                  </a:lnTo>
                  <a:lnTo>
                    <a:pt x="0" y="57619"/>
                  </a:lnTo>
                  <a:lnTo>
                    <a:pt x="0" y="2780677"/>
                  </a:lnTo>
                  <a:lnTo>
                    <a:pt x="4527" y="2803107"/>
                  </a:lnTo>
                  <a:lnTo>
                    <a:pt x="16875" y="2821422"/>
                  </a:lnTo>
                  <a:lnTo>
                    <a:pt x="35190" y="2833770"/>
                  </a:lnTo>
                  <a:lnTo>
                    <a:pt x="57619" y="2838297"/>
                  </a:lnTo>
                  <a:lnTo>
                    <a:pt x="2894977" y="2838297"/>
                  </a:lnTo>
                  <a:lnTo>
                    <a:pt x="2917407" y="2833770"/>
                  </a:lnTo>
                  <a:lnTo>
                    <a:pt x="2935722" y="2821422"/>
                  </a:lnTo>
                  <a:lnTo>
                    <a:pt x="2948070" y="2803107"/>
                  </a:lnTo>
                  <a:lnTo>
                    <a:pt x="2952597" y="2780677"/>
                  </a:lnTo>
                  <a:lnTo>
                    <a:pt x="2952597" y="57619"/>
                  </a:lnTo>
                  <a:lnTo>
                    <a:pt x="2948070" y="35190"/>
                  </a:lnTo>
                  <a:lnTo>
                    <a:pt x="2935722" y="16875"/>
                  </a:lnTo>
                  <a:lnTo>
                    <a:pt x="2917407" y="4527"/>
                  </a:lnTo>
                  <a:lnTo>
                    <a:pt x="28949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15507" y="990292"/>
              <a:ext cx="2952750" cy="2838450"/>
            </a:xfrm>
            <a:custGeom>
              <a:avLst/>
              <a:gdLst/>
              <a:ahLst/>
              <a:cxnLst/>
              <a:rect l="l" t="t" r="r" b="b"/>
              <a:pathLst>
                <a:path w="2952750" h="2838450">
                  <a:moveTo>
                    <a:pt x="0" y="57619"/>
                  </a:moveTo>
                  <a:lnTo>
                    <a:pt x="4527" y="35190"/>
                  </a:lnTo>
                  <a:lnTo>
                    <a:pt x="16875" y="16875"/>
                  </a:lnTo>
                  <a:lnTo>
                    <a:pt x="35190" y="4527"/>
                  </a:lnTo>
                  <a:lnTo>
                    <a:pt x="57619" y="0"/>
                  </a:lnTo>
                  <a:lnTo>
                    <a:pt x="2894977" y="0"/>
                  </a:lnTo>
                  <a:lnTo>
                    <a:pt x="2917407" y="4527"/>
                  </a:lnTo>
                  <a:lnTo>
                    <a:pt x="2935722" y="16875"/>
                  </a:lnTo>
                  <a:lnTo>
                    <a:pt x="2948070" y="35190"/>
                  </a:lnTo>
                  <a:lnTo>
                    <a:pt x="2952597" y="57619"/>
                  </a:lnTo>
                  <a:lnTo>
                    <a:pt x="2952597" y="2780677"/>
                  </a:lnTo>
                  <a:lnTo>
                    <a:pt x="2948070" y="2803107"/>
                  </a:lnTo>
                  <a:lnTo>
                    <a:pt x="2935722" y="2821422"/>
                  </a:lnTo>
                  <a:lnTo>
                    <a:pt x="2917407" y="2833770"/>
                  </a:lnTo>
                  <a:lnTo>
                    <a:pt x="2894977" y="2838297"/>
                  </a:lnTo>
                  <a:lnTo>
                    <a:pt x="57619" y="2838297"/>
                  </a:lnTo>
                  <a:lnTo>
                    <a:pt x="35190" y="2833770"/>
                  </a:lnTo>
                  <a:lnTo>
                    <a:pt x="16875" y="2821422"/>
                  </a:lnTo>
                  <a:lnTo>
                    <a:pt x="4527" y="2803107"/>
                  </a:lnTo>
                  <a:lnTo>
                    <a:pt x="0" y="2780677"/>
                  </a:lnTo>
                  <a:lnTo>
                    <a:pt x="0" y="57619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30405" y="996690"/>
              <a:ext cx="2937726" cy="318770"/>
            </a:xfrm>
            <a:custGeom>
              <a:avLst/>
              <a:gdLst/>
              <a:ahLst/>
              <a:cxnLst/>
              <a:rect l="l" t="t" r="r" b="b"/>
              <a:pathLst>
                <a:path w="2934334" h="318769">
                  <a:moveTo>
                    <a:pt x="2897911" y="0"/>
                  </a:moveTo>
                  <a:lnTo>
                    <a:pt x="36398" y="0"/>
                  </a:lnTo>
                  <a:lnTo>
                    <a:pt x="22229" y="2860"/>
                  </a:lnTo>
                  <a:lnTo>
                    <a:pt x="10660" y="10660"/>
                  </a:lnTo>
                  <a:lnTo>
                    <a:pt x="2860" y="22229"/>
                  </a:lnTo>
                  <a:lnTo>
                    <a:pt x="0" y="36398"/>
                  </a:lnTo>
                  <a:lnTo>
                    <a:pt x="0" y="281812"/>
                  </a:lnTo>
                  <a:lnTo>
                    <a:pt x="2860" y="295981"/>
                  </a:lnTo>
                  <a:lnTo>
                    <a:pt x="10660" y="307551"/>
                  </a:lnTo>
                  <a:lnTo>
                    <a:pt x="22229" y="315351"/>
                  </a:lnTo>
                  <a:lnTo>
                    <a:pt x="36398" y="318211"/>
                  </a:lnTo>
                  <a:lnTo>
                    <a:pt x="2897911" y="318211"/>
                  </a:lnTo>
                  <a:lnTo>
                    <a:pt x="2912080" y="315351"/>
                  </a:lnTo>
                  <a:lnTo>
                    <a:pt x="2923649" y="307551"/>
                  </a:lnTo>
                  <a:lnTo>
                    <a:pt x="2931449" y="295981"/>
                  </a:lnTo>
                  <a:lnTo>
                    <a:pt x="2934309" y="281812"/>
                  </a:lnTo>
                  <a:lnTo>
                    <a:pt x="2934309" y="36398"/>
                  </a:lnTo>
                  <a:lnTo>
                    <a:pt x="2931449" y="22229"/>
                  </a:lnTo>
                  <a:lnTo>
                    <a:pt x="2923649" y="10660"/>
                  </a:lnTo>
                  <a:lnTo>
                    <a:pt x="2912080" y="2860"/>
                  </a:lnTo>
                  <a:lnTo>
                    <a:pt x="2897911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9137650" y="983943"/>
            <a:ext cx="2794635" cy="1403985"/>
            <a:chOff x="9137650" y="983943"/>
            <a:chExt cx="2794635" cy="1403985"/>
          </a:xfrm>
        </p:grpSpPr>
        <p:sp>
          <p:nvSpPr>
            <p:cNvPr id="11" name="object 11"/>
            <p:cNvSpPr/>
            <p:nvPr/>
          </p:nvSpPr>
          <p:spPr>
            <a:xfrm>
              <a:off x="9144000" y="990293"/>
              <a:ext cx="2781935" cy="1391285"/>
            </a:xfrm>
            <a:custGeom>
              <a:avLst/>
              <a:gdLst/>
              <a:ahLst/>
              <a:cxnLst/>
              <a:rect l="l" t="t" r="r" b="b"/>
              <a:pathLst>
                <a:path w="2781934" h="1391285">
                  <a:moveTo>
                    <a:pt x="2723997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1333195"/>
                  </a:lnTo>
                  <a:lnTo>
                    <a:pt x="4527" y="1355617"/>
                  </a:lnTo>
                  <a:lnTo>
                    <a:pt x="16873" y="1373928"/>
                  </a:lnTo>
                  <a:lnTo>
                    <a:pt x="35184" y="1386275"/>
                  </a:lnTo>
                  <a:lnTo>
                    <a:pt x="57607" y="1390802"/>
                  </a:lnTo>
                  <a:lnTo>
                    <a:pt x="2723997" y="1390802"/>
                  </a:lnTo>
                  <a:lnTo>
                    <a:pt x="2746420" y="1386275"/>
                  </a:lnTo>
                  <a:lnTo>
                    <a:pt x="2764731" y="1373928"/>
                  </a:lnTo>
                  <a:lnTo>
                    <a:pt x="2777077" y="1355617"/>
                  </a:lnTo>
                  <a:lnTo>
                    <a:pt x="2781604" y="1333195"/>
                  </a:lnTo>
                  <a:lnTo>
                    <a:pt x="2781604" y="57607"/>
                  </a:lnTo>
                  <a:lnTo>
                    <a:pt x="2777077" y="35184"/>
                  </a:lnTo>
                  <a:lnTo>
                    <a:pt x="2764731" y="16873"/>
                  </a:lnTo>
                  <a:lnTo>
                    <a:pt x="2746420" y="4527"/>
                  </a:lnTo>
                  <a:lnTo>
                    <a:pt x="2723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44000" y="990293"/>
              <a:ext cx="2781935" cy="1391285"/>
            </a:xfrm>
            <a:custGeom>
              <a:avLst/>
              <a:gdLst/>
              <a:ahLst/>
              <a:cxnLst/>
              <a:rect l="l" t="t" r="r" b="b"/>
              <a:pathLst>
                <a:path w="2781934" h="139128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2723997" y="0"/>
                  </a:lnTo>
                  <a:lnTo>
                    <a:pt x="2746420" y="4527"/>
                  </a:lnTo>
                  <a:lnTo>
                    <a:pt x="2764731" y="16873"/>
                  </a:lnTo>
                  <a:lnTo>
                    <a:pt x="2777077" y="35184"/>
                  </a:lnTo>
                  <a:lnTo>
                    <a:pt x="2781604" y="57607"/>
                  </a:lnTo>
                  <a:lnTo>
                    <a:pt x="2781604" y="1333195"/>
                  </a:lnTo>
                  <a:lnTo>
                    <a:pt x="2777077" y="1355617"/>
                  </a:lnTo>
                  <a:lnTo>
                    <a:pt x="2764731" y="1373928"/>
                  </a:lnTo>
                  <a:lnTo>
                    <a:pt x="2746420" y="1386275"/>
                  </a:lnTo>
                  <a:lnTo>
                    <a:pt x="2723997" y="1390802"/>
                  </a:lnTo>
                  <a:lnTo>
                    <a:pt x="57607" y="1390802"/>
                  </a:lnTo>
                  <a:lnTo>
                    <a:pt x="35184" y="1386275"/>
                  </a:lnTo>
                  <a:lnTo>
                    <a:pt x="16873" y="1373928"/>
                  </a:lnTo>
                  <a:lnTo>
                    <a:pt x="4527" y="1355617"/>
                  </a:lnTo>
                  <a:lnTo>
                    <a:pt x="0" y="1333195"/>
                  </a:lnTo>
                  <a:lnTo>
                    <a:pt x="0" y="57607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144000" y="996690"/>
              <a:ext cx="2762885" cy="318770"/>
            </a:xfrm>
            <a:custGeom>
              <a:avLst/>
              <a:gdLst/>
              <a:ahLst/>
              <a:cxnLst/>
              <a:rect l="l" t="t" r="r" b="b"/>
              <a:pathLst>
                <a:path w="2762884" h="318769">
                  <a:moveTo>
                    <a:pt x="2726004" y="0"/>
                  </a:moveTo>
                  <a:lnTo>
                    <a:pt x="36398" y="0"/>
                  </a:lnTo>
                  <a:lnTo>
                    <a:pt x="22229" y="2860"/>
                  </a:lnTo>
                  <a:lnTo>
                    <a:pt x="10660" y="10660"/>
                  </a:lnTo>
                  <a:lnTo>
                    <a:pt x="2860" y="22229"/>
                  </a:lnTo>
                  <a:lnTo>
                    <a:pt x="0" y="36398"/>
                  </a:lnTo>
                  <a:lnTo>
                    <a:pt x="0" y="281812"/>
                  </a:lnTo>
                  <a:lnTo>
                    <a:pt x="2860" y="295981"/>
                  </a:lnTo>
                  <a:lnTo>
                    <a:pt x="10660" y="307551"/>
                  </a:lnTo>
                  <a:lnTo>
                    <a:pt x="22229" y="315351"/>
                  </a:lnTo>
                  <a:lnTo>
                    <a:pt x="36398" y="318211"/>
                  </a:lnTo>
                  <a:lnTo>
                    <a:pt x="2726004" y="318211"/>
                  </a:lnTo>
                  <a:lnTo>
                    <a:pt x="2740172" y="315351"/>
                  </a:lnTo>
                  <a:lnTo>
                    <a:pt x="2751742" y="307551"/>
                  </a:lnTo>
                  <a:lnTo>
                    <a:pt x="2759542" y="295981"/>
                  </a:lnTo>
                  <a:lnTo>
                    <a:pt x="2762402" y="281812"/>
                  </a:lnTo>
                  <a:lnTo>
                    <a:pt x="2762402" y="36398"/>
                  </a:lnTo>
                  <a:lnTo>
                    <a:pt x="2759542" y="22229"/>
                  </a:lnTo>
                  <a:lnTo>
                    <a:pt x="2751742" y="10660"/>
                  </a:lnTo>
                  <a:lnTo>
                    <a:pt x="2740172" y="2860"/>
                  </a:lnTo>
                  <a:lnTo>
                    <a:pt x="2726004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805287" y="3570511"/>
            <a:ext cx="5841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latin typeface="Aptos"/>
                <a:cs typeface="Aptos"/>
              </a:rPr>
              <a:t>t</a:t>
            </a:r>
            <a:endParaRPr sz="800">
              <a:latin typeface="Aptos"/>
              <a:cs typeface="Aptos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62280" y="1019962"/>
          <a:ext cx="5426338" cy="2658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320"/>
                <a:gridCol w="1066800"/>
                <a:gridCol w="990600"/>
                <a:gridCol w="838200"/>
                <a:gridCol w="759418"/>
              </a:tblGrid>
              <a:tr h="45750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latin typeface="Aptos"/>
                        </a:rPr>
                        <a:t>Metric</a:t>
                      </a:r>
                      <a:endParaRPr sz="1200" b="1" dirty="0">
                        <a:latin typeface="Aptos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FY22</a:t>
                      </a:r>
                      <a:endParaRPr sz="1200" b="1">
                        <a:latin typeface="Aptos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ptos"/>
                        </a:rPr>
                        <a:t>  </a:t>
                      </a:r>
                      <a:r>
                        <a:rPr sz="1200" b="1" dirty="0">
                          <a:latin typeface="Aptos"/>
                        </a:rPr>
                        <a:t>FY23</a:t>
                      </a:r>
                      <a:endParaRPr sz="1200" b="1" dirty="0">
                        <a:latin typeface="Aptos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latin typeface="Aptos"/>
                        </a:rPr>
                        <a:t>FY24</a:t>
                      </a:r>
                      <a:endParaRPr sz="1200" b="1" dirty="0">
                        <a:latin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latin typeface="Aptos"/>
                        </a:rPr>
                        <a:t>FY25</a:t>
                      </a:r>
                      <a:endParaRPr sz="1200" b="1" dirty="0">
                        <a:latin typeface="Aptos"/>
                      </a:endParaRPr>
                    </a:p>
                  </a:txBody>
                  <a:tcPr marL="0" marR="0" marT="0" marB="0"/>
                </a:tc>
              </a:tr>
              <a:tr h="227965">
                <a:tc>
                  <a:txBody>
                    <a:bodyPr/>
                    <a:lstStyle/>
                    <a:p>
                      <a:endParaRPr sz="1100" dirty="0">
                        <a:latin typeface="Aptos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6034" marB="0"/>
                </a:tc>
              </a:tr>
              <a:tr h="225425">
                <a:tc>
                  <a:txBody>
                    <a:bodyPr/>
                    <a:lstStyle/>
                    <a:p>
                      <a:endParaRPr sz="1100" dirty="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</a:tr>
              <a:tr h="225425"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</a:tr>
              <a:tr h="225425"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</a:tr>
              <a:tr h="225425"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</a:tr>
              <a:tr h="225425"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</a:tr>
              <a:tr h="225425">
                <a:tc>
                  <a:txBody>
                    <a:bodyPr/>
                    <a:lstStyle/>
                    <a:p>
                      <a:endParaRPr sz="1100" dirty="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</a:tr>
              <a:tr h="620395">
                <a:tc>
                  <a:txBody>
                    <a:bodyPr/>
                    <a:lstStyle/>
                    <a:p>
                      <a:endParaRPr sz="1100" dirty="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 dirty="0">
                        <a:latin typeface="Apto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endParaRPr sz="1100" dirty="0">
                        <a:latin typeface="Aptos"/>
                      </a:endParaRPr>
                    </a:p>
                  </a:txBody>
                  <a:tcPr marL="0" marR="0" marT="23495" marB="0"/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9137650" y="2413157"/>
            <a:ext cx="2794635" cy="1423035"/>
            <a:chOff x="9137650" y="2413157"/>
            <a:chExt cx="2794635" cy="1423035"/>
          </a:xfrm>
        </p:grpSpPr>
        <p:sp>
          <p:nvSpPr>
            <p:cNvPr id="15" name="object 15"/>
            <p:cNvSpPr/>
            <p:nvPr/>
          </p:nvSpPr>
          <p:spPr>
            <a:xfrm>
              <a:off x="9144000" y="2419507"/>
              <a:ext cx="2781935" cy="1410335"/>
            </a:xfrm>
            <a:custGeom>
              <a:avLst/>
              <a:gdLst/>
              <a:ahLst/>
              <a:cxnLst/>
              <a:rect l="l" t="t" r="r" b="b"/>
              <a:pathLst>
                <a:path w="2781934" h="1410335">
                  <a:moveTo>
                    <a:pt x="2723997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1352384"/>
                  </a:lnTo>
                  <a:lnTo>
                    <a:pt x="4527" y="1374814"/>
                  </a:lnTo>
                  <a:lnTo>
                    <a:pt x="16873" y="1393129"/>
                  </a:lnTo>
                  <a:lnTo>
                    <a:pt x="35184" y="1405477"/>
                  </a:lnTo>
                  <a:lnTo>
                    <a:pt x="57607" y="1410004"/>
                  </a:lnTo>
                  <a:lnTo>
                    <a:pt x="2723997" y="1410004"/>
                  </a:lnTo>
                  <a:lnTo>
                    <a:pt x="2746420" y="1405477"/>
                  </a:lnTo>
                  <a:lnTo>
                    <a:pt x="2764731" y="1393129"/>
                  </a:lnTo>
                  <a:lnTo>
                    <a:pt x="2777077" y="1374814"/>
                  </a:lnTo>
                  <a:lnTo>
                    <a:pt x="2781604" y="1352384"/>
                  </a:lnTo>
                  <a:lnTo>
                    <a:pt x="2781604" y="57607"/>
                  </a:lnTo>
                  <a:lnTo>
                    <a:pt x="2777077" y="35184"/>
                  </a:lnTo>
                  <a:lnTo>
                    <a:pt x="2764731" y="16873"/>
                  </a:lnTo>
                  <a:lnTo>
                    <a:pt x="2746420" y="4527"/>
                  </a:lnTo>
                  <a:lnTo>
                    <a:pt x="2723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44000" y="2419507"/>
              <a:ext cx="2781935" cy="1410335"/>
            </a:xfrm>
            <a:custGeom>
              <a:avLst/>
              <a:gdLst/>
              <a:ahLst/>
              <a:cxnLst/>
              <a:rect l="l" t="t" r="r" b="b"/>
              <a:pathLst>
                <a:path w="2781934" h="141033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2723997" y="0"/>
                  </a:lnTo>
                  <a:lnTo>
                    <a:pt x="2746420" y="4527"/>
                  </a:lnTo>
                  <a:lnTo>
                    <a:pt x="2764731" y="16873"/>
                  </a:lnTo>
                  <a:lnTo>
                    <a:pt x="2777077" y="35184"/>
                  </a:lnTo>
                  <a:lnTo>
                    <a:pt x="2781604" y="57607"/>
                  </a:lnTo>
                  <a:lnTo>
                    <a:pt x="2781604" y="1352384"/>
                  </a:lnTo>
                  <a:lnTo>
                    <a:pt x="2777077" y="1374814"/>
                  </a:lnTo>
                  <a:lnTo>
                    <a:pt x="2764731" y="1393129"/>
                  </a:lnTo>
                  <a:lnTo>
                    <a:pt x="2746420" y="1405477"/>
                  </a:lnTo>
                  <a:lnTo>
                    <a:pt x="2723997" y="1410004"/>
                  </a:lnTo>
                  <a:lnTo>
                    <a:pt x="57607" y="1410004"/>
                  </a:lnTo>
                  <a:lnTo>
                    <a:pt x="35184" y="1405477"/>
                  </a:lnTo>
                  <a:lnTo>
                    <a:pt x="16873" y="1393129"/>
                  </a:lnTo>
                  <a:lnTo>
                    <a:pt x="4527" y="1374814"/>
                  </a:lnTo>
                  <a:lnTo>
                    <a:pt x="0" y="1352384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44000" y="2437787"/>
              <a:ext cx="2762885" cy="305435"/>
            </a:xfrm>
            <a:custGeom>
              <a:avLst/>
              <a:gdLst/>
              <a:ahLst/>
              <a:cxnLst/>
              <a:rect l="l" t="t" r="r" b="b"/>
              <a:pathLst>
                <a:path w="2762884" h="305435">
                  <a:moveTo>
                    <a:pt x="2727464" y="0"/>
                  </a:moveTo>
                  <a:lnTo>
                    <a:pt x="34937" y="0"/>
                  </a:lnTo>
                  <a:lnTo>
                    <a:pt x="21340" y="2746"/>
                  </a:lnTo>
                  <a:lnTo>
                    <a:pt x="10234" y="10234"/>
                  </a:lnTo>
                  <a:lnTo>
                    <a:pt x="2746" y="21340"/>
                  </a:lnTo>
                  <a:lnTo>
                    <a:pt x="0" y="34937"/>
                  </a:lnTo>
                  <a:lnTo>
                    <a:pt x="0" y="270471"/>
                  </a:lnTo>
                  <a:lnTo>
                    <a:pt x="2746" y="284074"/>
                  </a:lnTo>
                  <a:lnTo>
                    <a:pt x="10234" y="295179"/>
                  </a:lnTo>
                  <a:lnTo>
                    <a:pt x="21340" y="302665"/>
                  </a:lnTo>
                  <a:lnTo>
                    <a:pt x="34937" y="305409"/>
                  </a:lnTo>
                  <a:lnTo>
                    <a:pt x="2727464" y="305409"/>
                  </a:lnTo>
                  <a:lnTo>
                    <a:pt x="2741062" y="302665"/>
                  </a:lnTo>
                  <a:lnTo>
                    <a:pt x="2752167" y="295179"/>
                  </a:lnTo>
                  <a:lnTo>
                    <a:pt x="2759656" y="284074"/>
                  </a:lnTo>
                  <a:lnTo>
                    <a:pt x="2762402" y="270471"/>
                  </a:lnTo>
                  <a:lnTo>
                    <a:pt x="2762402" y="34937"/>
                  </a:lnTo>
                  <a:lnTo>
                    <a:pt x="2759656" y="21340"/>
                  </a:lnTo>
                  <a:lnTo>
                    <a:pt x="2752167" y="10234"/>
                  </a:lnTo>
                  <a:lnTo>
                    <a:pt x="2741062" y="2746"/>
                  </a:lnTo>
                  <a:lnTo>
                    <a:pt x="2727464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600" b="1" dirty="0"/>
                <a:t>Key Ratios</a:t>
              </a:r>
              <a:endParaRPr sz="1600" b="1" dirty="0"/>
            </a:p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858010" y="1365008"/>
          <a:ext cx="3182764" cy="23166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8564"/>
                <a:gridCol w="704527"/>
                <a:gridCol w="782807"/>
                <a:gridCol w="726866"/>
              </a:tblGrid>
              <a:tr h="250052">
                <a:tc>
                  <a:txBody>
                    <a:bodyPr/>
                    <a:lstStyle/>
                    <a:p>
                      <a:endParaRPr sz="800" dirty="0">
                        <a:latin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</a:tr>
              <a:tr h="249651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8575" marB="0"/>
                </a:tc>
              </a:tr>
              <a:tr h="318448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1047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95250" marB="0"/>
                </a:tc>
              </a:tr>
              <a:tr h="149653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6670" marB="0"/>
                </a:tc>
              </a:tr>
              <a:tr h="248842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8575" marB="0"/>
                </a:tc>
              </a:tr>
              <a:tr h="172464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900">
                        <a:latin typeface="Aptos"/>
                        <a:cs typeface="Aptos"/>
                      </a:endParaRPr>
                    </a:p>
                  </a:txBody>
                  <a:tcPr marL="0" marR="0" marT="28575" marB="0"/>
                </a:tc>
              </a:tr>
              <a:tr h="404024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8575" marB="0"/>
                </a:tc>
              </a:tr>
              <a:tr h="249651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8575" marB="0"/>
                </a:tc>
              </a:tr>
              <a:tr h="259701"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endParaRPr sz="800">
                        <a:latin typeface="Apto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900" dirty="0">
                        <a:latin typeface="Aptos"/>
                        <a:cs typeface="Aptos"/>
                      </a:endParaRPr>
                    </a:p>
                  </a:txBody>
                  <a:tcPr marL="0" marR="0" marT="28575" marB="0"/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9248775" y="1019810"/>
            <a:ext cx="2705735" cy="24765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ptos"/>
              </a:rPr>
              <a:t>Cash Flow (Consolidated, ₹ Cr)</a:t>
            </a:r>
            <a:endParaRPr sz="2800" b="1" dirty="0">
              <a:latin typeface="Aptos"/>
              <a:cs typeface="Apto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8741" y="3879856"/>
            <a:ext cx="7366634" cy="2736850"/>
            <a:chOff x="298145" y="3879856"/>
            <a:chExt cx="7366634" cy="2736850"/>
          </a:xfrm>
        </p:grpSpPr>
        <p:sp>
          <p:nvSpPr>
            <p:cNvPr id="19" name="object 19"/>
            <p:cNvSpPr/>
            <p:nvPr/>
          </p:nvSpPr>
          <p:spPr>
            <a:xfrm>
              <a:off x="304495" y="3886206"/>
              <a:ext cx="7353934" cy="2724150"/>
            </a:xfrm>
            <a:custGeom>
              <a:avLst/>
              <a:gdLst/>
              <a:ahLst/>
              <a:cxnLst/>
              <a:rect l="l" t="t" r="r" b="b"/>
              <a:pathLst>
                <a:path w="7353934" h="2724150">
                  <a:moveTo>
                    <a:pt x="7295997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2666377"/>
                  </a:lnTo>
                  <a:lnTo>
                    <a:pt x="4527" y="2688807"/>
                  </a:lnTo>
                  <a:lnTo>
                    <a:pt x="16873" y="2707122"/>
                  </a:lnTo>
                  <a:lnTo>
                    <a:pt x="35184" y="2719470"/>
                  </a:lnTo>
                  <a:lnTo>
                    <a:pt x="57607" y="2723997"/>
                  </a:lnTo>
                  <a:lnTo>
                    <a:pt x="7295997" y="2723997"/>
                  </a:lnTo>
                  <a:lnTo>
                    <a:pt x="7318420" y="2719470"/>
                  </a:lnTo>
                  <a:lnTo>
                    <a:pt x="7336731" y="2707122"/>
                  </a:lnTo>
                  <a:lnTo>
                    <a:pt x="7349077" y="2688807"/>
                  </a:lnTo>
                  <a:lnTo>
                    <a:pt x="7353604" y="2666377"/>
                  </a:lnTo>
                  <a:lnTo>
                    <a:pt x="7353604" y="57607"/>
                  </a:lnTo>
                  <a:lnTo>
                    <a:pt x="7349077" y="35184"/>
                  </a:lnTo>
                  <a:lnTo>
                    <a:pt x="7336731" y="16873"/>
                  </a:lnTo>
                  <a:lnTo>
                    <a:pt x="7318420" y="4527"/>
                  </a:lnTo>
                  <a:lnTo>
                    <a:pt x="7295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4495" y="3886206"/>
              <a:ext cx="7353934" cy="2724150"/>
            </a:xfrm>
            <a:custGeom>
              <a:avLst/>
              <a:gdLst/>
              <a:ahLst/>
              <a:cxnLst/>
              <a:rect l="l" t="t" r="r" b="b"/>
              <a:pathLst>
                <a:path w="7353934" h="27241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7295997" y="0"/>
                  </a:lnTo>
                  <a:lnTo>
                    <a:pt x="7318420" y="4527"/>
                  </a:lnTo>
                  <a:lnTo>
                    <a:pt x="7336731" y="16873"/>
                  </a:lnTo>
                  <a:lnTo>
                    <a:pt x="7349077" y="35184"/>
                  </a:lnTo>
                  <a:lnTo>
                    <a:pt x="7353604" y="57607"/>
                  </a:lnTo>
                  <a:lnTo>
                    <a:pt x="7353604" y="2666377"/>
                  </a:lnTo>
                  <a:lnTo>
                    <a:pt x="7349077" y="2688807"/>
                  </a:lnTo>
                  <a:lnTo>
                    <a:pt x="7336731" y="2707122"/>
                  </a:lnTo>
                  <a:lnTo>
                    <a:pt x="7318420" y="2719470"/>
                  </a:lnTo>
                  <a:lnTo>
                    <a:pt x="7295997" y="2723997"/>
                  </a:lnTo>
                  <a:lnTo>
                    <a:pt x="57607" y="2723997"/>
                  </a:lnTo>
                  <a:lnTo>
                    <a:pt x="35184" y="2719470"/>
                  </a:lnTo>
                  <a:lnTo>
                    <a:pt x="16873" y="2707122"/>
                  </a:lnTo>
                  <a:lnTo>
                    <a:pt x="4527" y="2688807"/>
                  </a:lnTo>
                  <a:lnTo>
                    <a:pt x="0" y="2666377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4493" y="3897165"/>
              <a:ext cx="7353934" cy="313055"/>
            </a:xfrm>
            <a:custGeom>
              <a:avLst/>
              <a:gdLst/>
              <a:ahLst/>
              <a:cxnLst/>
              <a:rect l="l" t="t" r="r" b="b"/>
              <a:pathLst>
                <a:path w="7353934" h="313054">
                  <a:moveTo>
                    <a:pt x="7317828" y="0"/>
                  </a:moveTo>
                  <a:lnTo>
                    <a:pt x="35775" y="0"/>
                  </a:lnTo>
                  <a:lnTo>
                    <a:pt x="21849" y="2811"/>
                  </a:lnTo>
                  <a:lnTo>
                    <a:pt x="10477" y="10477"/>
                  </a:lnTo>
                  <a:lnTo>
                    <a:pt x="2811" y="21849"/>
                  </a:lnTo>
                  <a:lnTo>
                    <a:pt x="0" y="35775"/>
                  </a:lnTo>
                  <a:lnTo>
                    <a:pt x="0" y="276961"/>
                  </a:lnTo>
                  <a:lnTo>
                    <a:pt x="2811" y="290888"/>
                  </a:lnTo>
                  <a:lnTo>
                    <a:pt x="10477" y="302260"/>
                  </a:lnTo>
                  <a:lnTo>
                    <a:pt x="21849" y="309926"/>
                  </a:lnTo>
                  <a:lnTo>
                    <a:pt x="35775" y="312737"/>
                  </a:lnTo>
                  <a:lnTo>
                    <a:pt x="7317828" y="312737"/>
                  </a:lnTo>
                  <a:lnTo>
                    <a:pt x="7331755" y="309926"/>
                  </a:lnTo>
                  <a:lnTo>
                    <a:pt x="7343127" y="302260"/>
                  </a:lnTo>
                  <a:lnTo>
                    <a:pt x="7350793" y="290888"/>
                  </a:lnTo>
                  <a:lnTo>
                    <a:pt x="7353604" y="276961"/>
                  </a:lnTo>
                  <a:lnTo>
                    <a:pt x="7353604" y="35775"/>
                  </a:lnTo>
                  <a:lnTo>
                    <a:pt x="7350793" y="21849"/>
                  </a:lnTo>
                  <a:lnTo>
                    <a:pt x="7343127" y="10477"/>
                  </a:lnTo>
                  <a:lnTo>
                    <a:pt x="7331755" y="2811"/>
                  </a:lnTo>
                  <a:lnTo>
                    <a:pt x="7317828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176795" y="3919982"/>
            <a:ext cx="382408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ptos"/>
              </a:rPr>
              <a:t>Quarterly Performance — Consolidated (₹ Cr</a:t>
            </a:r>
            <a:r>
              <a:rPr lang="en-US" sz="1400" b="1" dirty="0">
                <a:latin typeface="Aptos"/>
              </a:rPr>
              <a:t>)</a:t>
            </a:r>
            <a:endParaRPr sz="1400" dirty="0">
              <a:latin typeface="Aptos"/>
              <a:cs typeface="Apto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27645" y="3879856"/>
            <a:ext cx="4203700" cy="2736850"/>
            <a:chOff x="7727645" y="3879856"/>
            <a:chExt cx="4203700" cy="2736850"/>
          </a:xfrm>
        </p:grpSpPr>
        <p:sp>
          <p:nvSpPr>
            <p:cNvPr id="23" name="object 23"/>
            <p:cNvSpPr/>
            <p:nvPr/>
          </p:nvSpPr>
          <p:spPr>
            <a:xfrm>
              <a:off x="7733995" y="3886206"/>
              <a:ext cx="4191000" cy="2724150"/>
            </a:xfrm>
            <a:custGeom>
              <a:avLst/>
              <a:gdLst/>
              <a:ahLst/>
              <a:cxnLst/>
              <a:rect l="l" t="t" r="r" b="b"/>
              <a:pathLst>
                <a:path w="4191000" h="2724150">
                  <a:moveTo>
                    <a:pt x="4133088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2666377"/>
                  </a:lnTo>
                  <a:lnTo>
                    <a:pt x="4527" y="2688807"/>
                  </a:lnTo>
                  <a:lnTo>
                    <a:pt x="16873" y="2707122"/>
                  </a:lnTo>
                  <a:lnTo>
                    <a:pt x="35184" y="2719470"/>
                  </a:lnTo>
                  <a:lnTo>
                    <a:pt x="57607" y="2723997"/>
                  </a:lnTo>
                  <a:lnTo>
                    <a:pt x="4133088" y="2723997"/>
                  </a:lnTo>
                  <a:lnTo>
                    <a:pt x="4155510" y="2719470"/>
                  </a:lnTo>
                  <a:lnTo>
                    <a:pt x="4173821" y="2707122"/>
                  </a:lnTo>
                  <a:lnTo>
                    <a:pt x="4186167" y="2688807"/>
                  </a:lnTo>
                  <a:lnTo>
                    <a:pt x="4190695" y="2666377"/>
                  </a:lnTo>
                  <a:lnTo>
                    <a:pt x="4190695" y="57607"/>
                  </a:lnTo>
                  <a:lnTo>
                    <a:pt x="4186167" y="35184"/>
                  </a:lnTo>
                  <a:lnTo>
                    <a:pt x="4173821" y="16873"/>
                  </a:lnTo>
                  <a:lnTo>
                    <a:pt x="4155510" y="4527"/>
                  </a:lnTo>
                  <a:lnTo>
                    <a:pt x="4133088" y="0"/>
                  </a:lnTo>
                  <a:close/>
                </a:path>
              </a:pathLst>
            </a:custGeom>
            <a:solidFill>
              <a:srgbClr val="FFF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733995" y="3886206"/>
              <a:ext cx="4191000" cy="2724150"/>
            </a:xfrm>
            <a:custGeom>
              <a:avLst/>
              <a:gdLst/>
              <a:ahLst/>
              <a:cxnLst/>
              <a:rect l="l" t="t" r="r" b="b"/>
              <a:pathLst>
                <a:path w="4191000" h="27241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4133088" y="0"/>
                  </a:lnTo>
                  <a:lnTo>
                    <a:pt x="4155510" y="4527"/>
                  </a:lnTo>
                  <a:lnTo>
                    <a:pt x="4173821" y="16873"/>
                  </a:lnTo>
                  <a:lnTo>
                    <a:pt x="4186167" y="35184"/>
                  </a:lnTo>
                  <a:lnTo>
                    <a:pt x="4190695" y="57607"/>
                  </a:lnTo>
                  <a:lnTo>
                    <a:pt x="4190695" y="2666377"/>
                  </a:lnTo>
                  <a:lnTo>
                    <a:pt x="4186167" y="2688807"/>
                  </a:lnTo>
                  <a:lnTo>
                    <a:pt x="4173821" y="2707122"/>
                  </a:lnTo>
                  <a:lnTo>
                    <a:pt x="4155510" y="2719470"/>
                  </a:lnTo>
                  <a:lnTo>
                    <a:pt x="4133088" y="2723997"/>
                  </a:lnTo>
                  <a:lnTo>
                    <a:pt x="57607" y="2723997"/>
                  </a:lnTo>
                  <a:lnTo>
                    <a:pt x="35184" y="2719470"/>
                  </a:lnTo>
                  <a:lnTo>
                    <a:pt x="16873" y="2707122"/>
                  </a:lnTo>
                  <a:lnTo>
                    <a:pt x="4527" y="2688807"/>
                  </a:lnTo>
                  <a:lnTo>
                    <a:pt x="0" y="2666377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F5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866075" y="3886206"/>
            <a:ext cx="4058920" cy="483466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3190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Aptos"/>
              </a:rPr>
              <a:t>Forensic Read — Quality-of-Earnings Flags</a:t>
            </a:r>
            <a:endParaRPr lang="en-US" sz="1400" dirty="0">
              <a:latin typeface="Aptos"/>
            </a:endParaRPr>
          </a:p>
          <a:p>
            <a:pPr marL="123190">
              <a:lnSpc>
                <a:spcPct val="100000"/>
              </a:lnSpc>
              <a:spcBef>
                <a:spcPts val="430"/>
              </a:spcBef>
            </a:pPr>
            <a:endParaRPr sz="1050" dirty="0">
              <a:latin typeface="Aptos"/>
              <a:cs typeface="Apto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906000" y="6621102"/>
            <a:ext cx="2005032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03 | C</a:t>
            </a:r>
            <a:r>
              <a:rPr lang="en-US" sz="900" dirty="0">
                <a:latin typeface="Aptos"/>
              </a:rPr>
              <a:t>OMPANY NAME</a:t>
            </a:r>
            <a:r>
              <a:rPr sz="900" dirty="0">
                <a:latin typeface="Aptos"/>
              </a:rPr>
              <a:t> 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42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87000" y="209398"/>
            <a:ext cx="1619401" cy="696796"/>
          </a:xfrm>
          <a:prstGeom prst="rect">
            <a:avLst/>
          </a:prstGeom>
        </p:spPr>
      </p:pic>
      <p:sp>
        <p:nvSpPr>
          <p:cNvPr id="43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5"/>
            <a:ext cx="2705405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70245" y="1006475"/>
            <a:ext cx="323723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b="1" dirty="0"/>
              <a:t>Ratios</a:t>
            </a:r>
            <a:endParaRPr lang="en-IN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33387" y="271933"/>
            <a:ext cx="34334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ptos"/>
              </a:rPr>
              <a:t>04 · CAPITAL STRUCTURE · LIQUIDITY · GOVERNANCE</a:t>
            </a:r>
            <a:endParaRPr sz="1000" dirty="0">
              <a:latin typeface="Aptos"/>
              <a:cs typeface="Aptos"/>
            </a:endParaRPr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325723" y="401144"/>
            <a:ext cx="765627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Aptos"/>
              </a:rPr>
              <a:t>Enterprise Value, Leverage &amp; Governance Metrics</a:t>
            </a:r>
            <a:endParaRPr sz="2400" dirty="0">
              <a:latin typeface="Aptos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298145" y="983949"/>
            <a:ext cx="3937635" cy="2699385"/>
            <a:chOff x="298145" y="983949"/>
            <a:chExt cx="3937635" cy="2699385"/>
          </a:xfrm>
        </p:grpSpPr>
        <p:sp>
          <p:nvSpPr>
            <p:cNvPr id="3" name="object 3"/>
            <p:cNvSpPr/>
            <p:nvPr/>
          </p:nvSpPr>
          <p:spPr>
            <a:xfrm>
              <a:off x="304495" y="990299"/>
              <a:ext cx="3924935" cy="2686685"/>
            </a:xfrm>
            <a:custGeom>
              <a:avLst/>
              <a:gdLst/>
              <a:ahLst/>
              <a:cxnLst/>
              <a:rect l="l" t="t" r="r" b="b"/>
              <a:pathLst>
                <a:path w="3924935" h="2686685">
                  <a:moveTo>
                    <a:pt x="3867010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628900"/>
                  </a:lnTo>
                  <a:lnTo>
                    <a:pt x="4527" y="2651322"/>
                  </a:lnTo>
                  <a:lnTo>
                    <a:pt x="16871" y="2669633"/>
                  </a:lnTo>
                  <a:lnTo>
                    <a:pt x="35179" y="2681979"/>
                  </a:lnTo>
                  <a:lnTo>
                    <a:pt x="57594" y="2686507"/>
                  </a:lnTo>
                  <a:lnTo>
                    <a:pt x="3867010" y="2686507"/>
                  </a:lnTo>
                  <a:lnTo>
                    <a:pt x="3889425" y="2681979"/>
                  </a:lnTo>
                  <a:lnTo>
                    <a:pt x="3907732" y="2669633"/>
                  </a:lnTo>
                  <a:lnTo>
                    <a:pt x="3920077" y="2651322"/>
                  </a:lnTo>
                  <a:lnTo>
                    <a:pt x="3924604" y="2628900"/>
                  </a:lnTo>
                  <a:lnTo>
                    <a:pt x="3924604" y="57594"/>
                  </a:lnTo>
                  <a:lnTo>
                    <a:pt x="3920077" y="35174"/>
                  </a:lnTo>
                  <a:lnTo>
                    <a:pt x="3907732" y="16867"/>
                  </a:lnTo>
                  <a:lnTo>
                    <a:pt x="3889425" y="4525"/>
                  </a:lnTo>
                  <a:lnTo>
                    <a:pt x="3867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4495" y="990299"/>
              <a:ext cx="3924935" cy="2686685"/>
            </a:xfrm>
            <a:custGeom>
              <a:avLst/>
              <a:gdLst/>
              <a:ahLst/>
              <a:cxnLst/>
              <a:rect l="l" t="t" r="r" b="b"/>
              <a:pathLst>
                <a:path w="3924935" h="268668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3867010" y="0"/>
                  </a:lnTo>
                  <a:lnTo>
                    <a:pt x="3889425" y="4525"/>
                  </a:lnTo>
                  <a:lnTo>
                    <a:pt x="3907732" y="16867"/>
                  </a:lnTo>
                  <a:lnTo>
                    <a:pt x="3920077" y="35174"/>
                  </a:lnTo>
                  <a:lnTo>
                    <a:pt x="3924604" y="57594"/>
                  </a:lnTo>
                  <a:lnTo>
                    <a:pt x="3924604" y="2628900"/>
                  </a:lnTo>
                  <a:lnTo>
                    <a:pt x="3920077" y="2651322"/>
                  </a:lnTo>
                  <a:lnTo>
                    <a:pt x="3907732" y="2669633"/>
                  </a:lnTo>
                  <a:lnTo>
                    <a:pt x="3889425" y="2681979"/>
                  </a:lnTo>
                  <a:lnTo>
                    <a:pt x="3867010" y="2686507"/>
                  </a:lnTo>
                  <a:lnTo>
                    <a:pt x="57594" y="2686507"/>
                  </a:lnTo>
                  <a:lnTo>
                    <a:pt x="35179" y="2681979"/>
                  </a:lnTo>
                  <a:lnTo>
                    <a:pt x="16871" y="2669633"/>
                  </a:lnTo>
                  <a:lnTo>
                    <a:pt x="4527" y="2651322"/>
                  </a:lnTo>
                  <a:lnTo>
                    <a:pt x="0" y="2628900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304496" y="845917"/>
            <a:ext cx="3924935" cy="334010"/>
          </a:xfrm>
          <a:custGeom>
            <a:avLst/>
            <a:gdLst/>
            <a:ahLst/>
            <a:cxnLst/>
            <a:rect l="l" t="t" r="r" b="b"/>
            <a:pathLst>
              <a:path w="3924935" h="334009">
                <a:moveTo>
                  <a:pt x="3886428" y="0"/>
                </a:moveTo>
                <a:lnTo>
                  <a:pt x="38176" y="0"/>
                </a:lnTo>
                <a:lnTo>
                  <a:pt x="23317" y="3000"/>
                </a:lnTo>
                <a:lnTo>
                  <a:pt x="11182" y="11182"/>
                </a:lnTo>
                <a:lnTo>
                  <a:pt x="3000" y="23317"/>
                </a:lnTo>
                <a:lnTo>
                  <a:pt x="0" y="38176"/>
                </a:lnTo>
                <a:lnTo>
                  <a:pt x="0" y="295579"/>
                </a:lnTo>
                <a:lnTo>
                  <a:pt x="3000" y="310438"/>
                </a:lnTo>
                <a:lnTo>
                  <a:pt x="11182" y="322573"/>
                </a:lnTo>
                <a:lnTo>
                  <a:pt x="23317" y="330755"/>
                </a:lnTo>
                <a:lnTo>
                  <a:pt x="38176" y="333755"/>
                </a:lnTo>
                <a:lnTo>
                  <a:pt x="3886428" y="333755"/>
                </a:lnTo>
                <a:lnTo>
                  <a:pt x="3901287" y="330755"/>
                </a:lnTo>
                <a:lnTo>
                  <a:pt x="3913422" y="322573"/>
                </a:lnTo>
                <a:lnTo>
                  <a:pt x="3921604" y="310438"/>
                </a:lnTo>
                <a:lnTo>
                  <a:pt x="3924604" y="295579"/>
                </a:lnTo>
                <a:lnTo>
                  <a:pt x="3924604" y="38176"/>
                </a:lnTo>
                <a:lnTo>
                  <a:pt x="3921604" y="23317"/>
                </a:lnTo>
                <a:lnTo>
                  <a:pt x="3913422" y="11182"/>
                </a:lnTo>
                <a:lnTo>
                  <a:pt x="3901287" y="3000"/>
                </a:lnTo>
                <a:lnTo>
                  <a:pt x="3886428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84235" y="874540"/>
            <a:ext cx="3378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ptos"/>
              </a:rPr>
              <a:t>Enterprise Value &amp; Valuation Multiples</a:t>
            </a:r>
            <a:endParaRPr sz="2800" b="1" dirty="0">
              <a:latin typeface="Aptos"/>
              <a:cs typeface="Apto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98644" y="814871"/>
            <a:ext cx="3937635" cy="2840990"/>
            <a:chOff x="4298645" y="842163"/>
            <a:chExt cx="3937635" cy="2840990"/>
          </a:xfrm>
        </p:grpSpPr>
        <p:sp>
          <p:nvSpPr>
            <p:cNvPr id="7" name="object 7"/>
            <p:cNvSpPr/>
            <p:nvPr/>
          </p:nvSpPr>
          <p:spPr>
            <a:xfrm>
              <a:off x="4304995" y="990299"/>
              <a:ext cx="3924935" cy="2686685"/>
            </a:xfrm>
            <a:custGeom>
              <a:avLst/>
              <a:gdLst/>
              <a:ahLst/>
              <a:cxnLst/>
              <a:rect l="l" t="t" r="r" b="b"/>
              <a:pathLst>
                <a:path w="3924934" h="2686685">
                  <a:moveTo>
                    <a:pt x="3867010" y="0"/>
                  </a:moveTo>
                  <a:lnTo>
                    <a:pt x="57594" y="0"/>
                  </a:lnTo>
                  <a:lnTo>
                    <a:pt x="35179" y="4525"/>
                  </a:lnTo>
                  <a:lnTo>
                    <a:pt x="16871" y="16867"/>
                  </a:lnTo>
                  <a:lnTo>
                    <a:pt x="4527" y="35174"/>
                  </a:lnTo>
                  <a:lnTo>
                    <a:pt x="0" y="57594"/>
                  </a:lnTo>
                  <a:lnTo>
                    <a:pt x="0" y="2628900"/>
                  </a:lnTo>
                  <a:lnTo>
                    <a:pt x="4527" y="2651322"/>
                  </a:lnTo>
                  <a:lnTo>
                    <a:pt x="16871" y="2669633"/>
                  </a:lnTo>
                  <a:lnTo>
                    <a:pt x="35179" y="2681979"/>
                  </a:lnTo>
                  <a:lnTo>
                    <a:pt x="57594" y="2686507"/>
                  </a:lnTo>
                  <a:lnTo>
                    <a:pt x="3867010" y="2686507"/>
                  </a:lnTo>
                  <a:lnTo>
                    <a:pt x="3889425" y="2681979"/>
                  </a:lnTo>
                  <a:lnTo>
                    <a:pt x="3907732" y="2669633"/>
                  </a:lnTo>
                  <a:lnTo>
                    <a:pt x="3920077" y="2651322"/>
                  </a:lnTo>
                  <a:lnTo>
                    <a:pt x="3924604" y="2628900"/>
                  </a:lnTo>
                  <a:lnTo>
                    <a:pt x="3924604" y="57594"/>
                  </a:lnTo>
                  <a:lnTo>
                    <a:pt x="3920077" y="35174"/>
                  </a:lnTo>
                  <a:lnTo>
                    <a:pt x="3907732" y="16867"/>
                  </a:lnTo>
                  <a:lnTo>
                    <a:pt x="3889425" y="4525"/>
                  </a:lnTo>
                  <a:lnTo>
                    <a:pt x="3867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04995" y="990299"/>
              <a:ext cx="3924935" cy="2686685"/>
            </a:xfrm>
            <a:custGeom>
              <a:avLst/>
              <a:gdLst/>
              <a:ahLst/>
              <a:cxnLst/>
              <a:rect l="l" t="t" r="r" b="b"/>
              <a:pathLst>
                <a:path w="3924934" h="2686685">
                  <a:moveTo>
                    <a:pt x="0" y="57594"/>
                  </a:moveTo>
                  <a:lnTo>
                    <a:pt x="4527" y="35174"/>
                  </a:lnTo>
                  <a:lnTo>
                    <a:pt x="16871" y="16867"/>
                  </a:lnTo>
                  <a:lnTo>
                    <a:pt x="35179" y="4525"/>
                  </a:lnTo>
                  <a:lnTo>
                    <a:pt x="57594" y="0"/>
                  </a:lnTo>
                  <a:lnTo>
                    <a:pt x="3867010" y="0"/>
                  </a:lnTo>
                  <a:lnTo>
                    <a:pt x="3889425" y="4525"/>
                  </a:lnTo>
                  <a:lnTo>
                    <a:pt x="3907732" y="16867"/>
                  </a:lnTo>
                  <a:lnTo>
                    <a:pt x="3920077" y="35174"/>
                  </a:lnTo>
                  <a:lnTo>
                    <a:pt x="3924604" y="57594"/>
                  </a:lnTo>
                  <a:lnTo>
                    <a:pt x="3924604" y="2628900"/>
                  </a:lnTo>
                  <a:lnTo>
                    <a:pt x="3920077" y="2651322"/>
                  </a:lnTo>
                  <a:lnTo>
                    <a:pt x="3907732" y="2669633"/>
                  </a:lnTo>
                  <a:lnTo>
                    <a:pt x="3889425" y="2681979"/>
                  </a:lnTo>
                  <a:lnTo>
                    <a:pt x="3867010" y="2686507"/>
                  </a:lnTo>
                  <a:lnTo>
                    <a:pt x="57594" y="2686507"/>
                  </a:lnTo>
                  <a:lnTo>
                    <a:pt x="35179" y="2681979"/>
                  </a:lnTo>
                  <a:lnTo>
                    <a:pt x="16871" y="2669633"/>
                  </a:lnTo>
                  <a:lnTo>
                    <a:pt x="4527" y="2651322"/>
                  </a:lnTo>
                  <a:lnTo>
                    <a:pt x="0" y="2628900"/>
                  </a:lnTo>
                  <a:lnTo>
                    <a:pt x="0" y="57594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00356" y="842163"/>
              <a:ext cx="3934460" cy="334010"/>
            </a:xfrm>
            <a:custGeom>
              <a:avLst/>
              <a:gdLst/>
              <a:ahLst/>
              <a:cxnLst/>
              <a:rect l="l" t="t" r="r" b="b"/>
              <a:pathLst>
                <a:path w="3934459" h="334009">
                  <a:moveTo>
                    <a:pt x="3895699" y="0"/>
                  </a:moveTo>
                  <a:lnTo>
                    <a:pt x="38176" y="0"/>
                  </a:lnTo>
                  <a:lnTo>
                    <a:pt x="23317" y="3000"/>
                  </a:lnTo>
                  <a:lnTo>
                    <a:pt x="11182" y="11182"/>
                  </a:lnTo>
                  <a:lnTo>
                    <a:pt x="3000" y="23317"/>
                  </a:lnTo>
                  <a:lnTo>
                    <a:pt x="0" y="38176"/>
                  </a:lnTo>
                  <a:lnTo>
                    <a:pt x="0" y="295579"/>
                  </a:lnTo>
                  <a:lnTo>
                    <a:pt x="3000" y="310438"/>
                  </a:lnTo>
                  <a:lnTo>
                    <a:pt x="11182" y="322573"/>
                  </a:lnTo>
                  <a:lnTo>
                    <a:pt x="23317" y="330755"/>
                  </a:lnTo>
                  <a:lnTo>
                    <a:pt x="38176" y="333755"/>
                  </a:lnTo>
                  <a:lnTo>
                    <a:pt x="3895699" y="333755"/>
                  </a:lnTo>
                  <a:lnTo>
                    <a:pt x="3910563" y="330755"/>
                  </a:lnTo>
                  <a:lnTo>
                    <a:pt x="3922698" y="322573"/>
                  </a:lnTo>
                  <a:lnTo>
                    <a:pt x="3930877" y="310438"/>
                  </a:lnTo>
                  <a:lnTo>
                    <a:pt x="3933875" y="295579"/>
                  </a:lnTo>
                  <a:lnTo>
                    <a:pt x="3933875" y="38176"/>
                  </a:lnTo>
                  <a:lnTo>
                    <a:pt x="3930877" y="23317"/>
                  </a:lnTo>
                  <a:lnTo>
                    <a:pt x="3922698" y="11182"/>
                  </a:lnTo>
                  <a:lnTo>
                    <a:pt x="3910563" y="3000"/>
                  </a:lnTo>
                  <a:lnTo>
                    <a:pt x="3895699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445000" y="878792"/>
            <a:ext cx="370776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285" algn="just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ptos"/>
              </a:rPr>
              <a:t>Debt Structure &amp; Cost of Borrowing</a:t>
            </a:r>
            <a:endParaRPr sz="2800" b="1" dirty="0">
              <a:latin typeface="Aptos"/>
              <a:cs typeface="Aptos"/>
            </a:endParaRPr>
          </a:p>
          <a:p>
            <a:pPr algn="just"/>
            <a:endParaRPr lang="en-US" sz="900" dirty="0">
              <a:latin typeface="Aptos"/>
            </a:endParaRPr>
          </a:p>
          <a:p>
            <a:pPr algn="just"/>
            <a:r>
              <a:rPr sz="900" dirty="0">
                <a:latin typeface="Aptos"/>
              </a:rPr>
              <a:t>.</a:t>
            </a:r>
            <a:endParaRPr sz="900" dirty="0">
              <a:latin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05495" y="814872"/>
            <a:ext cx="3619500" cy="2862110"/>
            <a:chOff x="8305495" y="814872"/>
            <a:chExt cx="3619500" cy="2862110"/>
          </a:xfrm>
        </p:grpSpPr>
        <p:sp>
          <p:nvSpPr>
            <p:cNvPr id="11" name="object 11"/>
            <p:cNvSpPr/>
            <p:nvPr/>
          </p:nvSpPr>
          <p:spPr>
            <a:xfrm>
              <a:off x="8305495" y="990297"/>
              <a:ext cx="3619500" cy="2686685"/>
            </a:xfrm>
            <a:custGeom>
              <a:avLst/>
              <a:gdLst/>
              <a:ahLst/>
              <a:cxnLst/>
              <a:rect l="l" t="t" r="r" b="b"/>
              <a:pathLst>
                <a:path w="3619500" h="2686685">
                  <a:moveTo>
                    <a:pt x="3561600" y="0"/>
                  </a:moveTo>
                  <a:lnTo>
                    <a:pt x="57594" y="0"/>
                  </a:lnTo>
                  <a:lnTo>
                    <a:pt x="35174" y="4525"/>
                  </a:lnTo>
                  <a:lnTo>
                    <a:pt x="16867" y="16867"/>
                  </a:lnTo>
                  <a:lnTo>
                    <a:pt x="4525" y="35174"/>
                  </a:lnTo>
                  <a:lnTo>
                    <a:pt x="0" y="57594"/>
                  </a:lnTo>
                  <a:lnTo>
                    <a:pt x="0" y="2628912"/>
                  </a:lnTo>
                  <a:lnTo>
                    <a:pt x="4525" y="2651327"/>
                  </a:lnTo>
                  <a:lnTo>
                    <a:pt x="16867" y="2669635"/>
                  </a:lnTo>
                  <a:lnTo>
                    <a:pt x="35174" y="2681980"/>
                  </a:lnTo>
                  <a:lnTo>
                    <a:pt x="57594" y="2686507"/>
                  </a:lnTo>
                  <a:lnTo>
                    <a:pt x="3561600" y="2686507"/>
                  </a:lnTo>
                  <a:lnTo>
                    <a:pt x="3584021" y="2681980"/>
                  </a:lnTo>
                  <a:lnTo>
                    <a:pt x="3602328" y="2669635"/>
                  </a:lnTo>
                  <a:lnTo>
                    <a:pt x="3614669" y="2651327"/>
                  </a:lnTo>
                  <a:lnTo>
                    <a:pt x="3619195" y="2628912"/>
                  </a:lnTo>
                  <a:lnTo>
                    <a:pt x="3619195" y="57594"/>
                  </a:lnTo>
                  <a:lnTo>
                    <a:pt x="3614669" y="35174"/>
                  </a:lnTo>
                  <a:lnTo>
                    <a:pt x="3602328" y="16867"/>
                  </a:lnTo>
                  <a:lnTo>
                    <a:pt x="3584021" y="4525"/>
                  </a:lnTo>
                  <a:lnTo>
                    <a:pt x="356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05495" y="990297"/>
              <a:ext cx="3619500" cy="2686685"/>
            </a:xfrm>
            <a:custGeom>
              <a:avLst/>
              <a:gdLst/>
              <a:ahLst/>
              <a:cxnLst/>
              <a:rect l="l" t="t" r="r" b="b"/>
              <a:pathLst>
                <a:path w="3619500" h="2686685">
                  <a:moveTo>
                    <a:pt x="0" y="57594"/>
                  </a:moveTo>
                  <a:lnTo>
                    <a:pt x="4525" y="35174"/>
                  </a:lnTo>
                  <a:lnTo>
                    <a:pt x="16867" y="16867"/>
                  </a:lnTo>
                  <a:lnTo>
                    <a:pt x="35174" y="4525"/>
                  </a:lnTo>
                  <a:lnTo>
                    <a:pt x="57594" y="0"/>
                  </a:lnTo>
                  <a:lnTo>
                    <a:pt x="3561600" y="0"/>
                  </a:lnTo>
                  <a:lnTo>
                    <a:pt x="3584021" y="4525"/>
                  </a:lnTo>
                  <a:lnTo>
                    <a:pt x="3602328" y="16867"/>
                  </a:lnTo>
                  <a:lnTo>
                    <a:pt x="3614669" y="35174"/>
                  </a:lnTo>
                  <a:lnTo>
                    <a:pt x="3619195" y="57594"/>
                  </a:lnTo>
                  <a:lnTo>
                    <a:pt x="3619195" y="2628912"/>
                  </a:lnTo>
                  <a:lnTo>
                    <a:pt x="3614669" y="2651327"/>
                  </a:lnTo>
                  <a:lnTo>
                    <a:pt x="3602328" y="2669635"/>
                  </a:lnTo>
                  <a:lnTo>
                    <a:pt x="3584021" y="2681980"/>
                  </a:lnTo>
                  <a:lnTo>
                    <a:pt x="3561600" y="2686507"/>
                  </a:lnTo>
                  <a:lnTo>
                    <a:pt x="57594" y="2686507"/>
                  </a:lnTo>
                  <a:lnTo>
                    <a:pt x="35174" y="2681980"/>
                  </a:lnTo>
                  <a:lnTo>
                    <a:pt x="16867" y="2669635"/>
                  </a:lnTo>
                  <a:lnTo>
                    <a:pt x="4525" y="2651327"/>
                  </a:lnTo>
                  <a:lnTo>
                    <a:pt x="0" y="2628912"/>
                  </a:lnTo>
                  <a:lnTo>
                    <a:pt x="0" y="57594"/>
                  </a:lnTo>
                  <a:close/>
                </a:path>
              </a:pathLst>
            </a:custGeom>
            <a:ln w="12699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08223" y="814872"/>
              <a:ext cx="3589654" cy="334010"/>
            </a:xfrm>
            <a:custGeom>
              <a:avLst/>
              <a:gdLst/>
              <a:ahLst/>
              <a:cxnLst/>
              <a:rect l="l" t="t" r="r" b="b"/>
              <a:pathLst>
                <a:path w="3589654" h="334009">
                  <a:moveTo>
                    <a:pt x="3551161" y="0"/>
                  </a:moveTo>
                  <a:lnTo>
                    <a:pt x="38176" y="0"/>
                  </a:lnTo>
                  <a:lnTo>
                    <a:pt x="23317" y="3000"/>
                  </a:lnTo>
                  <a:lnTo>
                    <a:pt x="11182" y="11182"/>
                  </a:lnTo>
                  <a:lnTo>
                    <a:pt x="3000" y="23317"/>
                  </a:lnTo>
                  <a:lnTo>
                    <a:pt x="0" y="38176"/>
                  </a:lnTo>
                  <a:lnTo>
                    <a:pt x="0" y="295579"/>
                  </a:lnTo>
                  <a:lnTo>
                    <a:pt x="3000" y="310438"/>
                  </a:lnTo>
                  <a:lnTo>
                    <a:pt x="11182" y="322573"/>
                  </a:lnTo>
                  <a:lnTo>
                    <a:pt x="23317" y="330755"/>
                  </a:lnTo>
                  <a:lnTo>
                    <a:pt x="38176" y="333755"/>
                  </a:lnTo>
                  <a:lnTo>
                    <a:pt x="3551161" y="333755"/>
                  </a:lnTo>
                  <a:lnTo>
                    <a:pt x="3566027" y="330755"/>
                  </a:lnTo>
                  <a:lnTo>
                    <a:pt x="3578166" y="322573"/>
                  </a:lnTo>
                  <a:lnTo>
                    <a:pt x="3586349" y="310438"/>
                  </a:lnTo>
                  <a:lnTo>
                    <a:pt x="3589350" y="295579"/>
                  </a:lnTo>
                  <a:lnTo>
                    <a:pt x="3589350" y="38176"/>
                  </a:lnTo>
                  <a:lnTo>
                    <a:pt x="3586349" y="23317"/>
                  </a:lnTo>
                  <a:lnTo>
                    <a:pt x="3578166" y="11182"/>
                  </a:lnTo>
                  <a:lnTo>
                    <a:pt x="3566027" y="3000"/>
                  </a:lnTo>
                  <a:lnTo>
                    <a:pt x="3551161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8640384" y="857848"/>
            <a:ext cx="2978108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ptos"/>
              </a:rPr>
              <a:t>Borrowing / Settlement Disclosure</a:t>
            </a:r>
            <a:endParaRPr sz="2800" b="1" dirty="0">
              <a:latin typeface="Aptos"/>
              <a:cs typeface="Apto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8145" y="3743554"/>
            <a:ext cx="3937635" cy="2854325"/>
            <a:chOff x="298145" y="3743554"/>
            <a:chExt cx="3937635" cy="2854325"/>
          </a:xfrm>
        </p:grpSpPr>
        <p:sp>
          <p:nvSpPr>
            <p:cNvPr id="15" name="object 15"/>
            <p:cNvSpPr/>
            <p:nvPr/>
          </p:nvSpPr>
          <p:spPr>
            <a:xfrm>
              <a:off x="304495" y="3752693"/>
              <a:ext cx="3924935" cy="2838450"/>
            </a:xfrm>
            <a:custGeom>
              <a:avLst/>
              <a:gdLst/>
              <a:ahLst/>
              <a:cxnLst/>
              <a:rect l="l" t="t" r="r" b="b"/>
              <a:pathLst>
                <a:path w="3924935" h="2838450">
                  <a:moveTo>
                    <a:pt x="3866984" y="0"/>
                  </a:moveTo>
                  <a:lnTo>
                    <a:pt x="57619" y="0"/>
                  </a:lnTo>
                  <a:lnTo>
                    <a:pt x="35190" y="4527"/>
                  </a:lnTo>
                  <a:lnTo>
                    <a:pt x="16875" y="16875"/>
                  </a:lnTo>
                  <a:lnTo>
                    <a:pt x="4527" y="35190"/>
                  </a:lnTo>
                  <a:lnTo>
                    <a:pt x="0" y="57619"/>
                  </a:lnTo>
                  <a:lnTo>
                    <a:pt x="0" y="2780690"/>
                  </a:lnTo>
                  <a:lnTo>
                    <a:pt x="4527" y="2803112"/>
                  </a:lnTo>
                  <a:lnTo>
                    <a:pt x="16875" y="2821424"/>
                  </a:lnTo>
                  <a:lnTo>
                    <a:pt x="35190" y="2833770"/>
                  </a:lnTo>
                  <a:lnTo>
                    <a:pt x="57619" y="2838297"/>
                  </a:lnTo>
                  <a:lnTo>
                    <a:pt x="3866984" y="2838297"/>
                  </a:lnTo>
                  <a:lnTo>
                    <a:pt x="3889414" y="2833770"/>
                  </a:lnTo>
                  <a:lnTo>
                    <a:pt x="3907729" y="2821424"/>
                  </a:lnTo>
                  <a:lnTo>
                    <a:pt x="3920077" y="2803112"/>
                  </a:lnTo>
                  <a:lnTo>
                    <a:pt x="3924604" y="2780690"/>
                  </a:lnTo>
                  <a:lnTo>
                    <a:pt x="3924604" y="57619"/>
                  </a:lnTo>
                  <a:lnTo>
                    <a:pt x="3920077" y="35190"/>
                  </a:lnTo>
                  <a:lnTo>
                    <a:pt x="3907729" y="16875"/>
                  </a:lnTo>
                  <a:lnTo>
                    <a:pt x="3889414" y="4527"/>
                  </a:lnTo>
                  <a:lnTo>
                    <a:pt x="3866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4495" y="3752693"/>
              <a:ext cx="3924935" cy="2838450"/>
            </a:xfrm>
            <a:custGeom>
              <a:avLst/>
              <a:gdLst/>
              <a:ahLst/>
              <a:cxnLst/>
              <a:rect l="l" t="t" r="r" b="b"/>
              <a:pathLst>
                <a:path w="3924935" h="2838450">
                  <a:moveTo>
                    <a:pt x="0" y="57619"/>
                  </a:moveTo>
                  <a:lnTo>
                    <a:pt x="4527" y="35190"/>
                  </a:lnTo>
                  <a:lnTo>
                    <a:pt x="16875" y="16875"/>
                  </a:lnTo>
                  <a:lnTo>
                    <a:pt x="35190" y="4527"/>
                  </a:lnTo>
                  <a:lnTo>
                    <a:pt x="57619" y="0"/>
                  </a:lnTo>
                  <a:lnTo>
                    <a:pt x="3866984" y="0"/>
                  </a:lnTo>
                  <a:lnTo>
                    <a:pt x="3889414" y="4527"/>
                  </a:lnTo>
                  <a:lnTo>
                    <a:pt x="3907729" y="16875"/>
                  </a:lnTo>
                  <a:lnTo>
                    <a:pt x="3920077" y="35190"/>
                  </a:lnTo>
                  <a:lnTo>
                    <a:pt x="3924604" y="57619"/>
                  </a:lnTo>
                  <a:lnTo>
                    <a:pt x="3924604" y="2780690"/>
                  </a:lnTo>
                  <a:lnTo>
                    <a:pt x="3920077" y="2803112"/>
                  </a:lnTo>
                  <a:lnTo>
                    <a:pt x="3907729" y="2821424"/>
                  </a:lnTo>
                  <a:lnTo>
                    <a:pt x="3889414" y="2833770"/>
                  </a:lnTo>
                  <a:lnTo>
                    <a:pt x="3866984" y="2838297"/>
                  </a:lnTo>
                  <a:lnTo>
                    <a:pt x="57619" y="2838297"/>
                  </a:lnTo>
                  <a:lnTo>
                    <a:pt x="35190" y="2833770"/>
                  </a:lnTo>
                  <a:lnTo>
                    <a:pt x="16875" y="2821424"/>
                  </a:lnTo>
                  <a:lnTo>
                    <a:pt x="4527" y="2803112"/>
                  </a:lnTo>
                  <a:lnTo>
                    <a:pt x="0" y="2780690"/>
                  </a:lnTo>
                  <a:lnTo>
                    <a:pt x="0" y="57619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6779" y="3743554"/>
              <a:ext cx="3901440" cy="334010"/>
            </a:xfrm>
            <a:custGeom>
              <a:avLst/>
              <a:gdLst/>
              <a:ahLst/>
              <a:cxnLst/>
              <a:rect l="l" t="t" r="r" b="b"/>
              <a:pathLst>
                <a:path w="3901440" h="334010">
                  <a:moveTo>
                    <a:pt x="3862781" y="0"/>
                  </a:moveTo>
                  <a:lnTo>
                    <a:pt x="38176" y="0"/>
                  </a:lnTo>
                  <a:lnTo>
                    <a:pt x="23317" y="3000"/>
                  </a:lnTo>
                  <a:lnTo>
                    <a:pt x="11182" y="11182"/>
                  </a:lnTo>
                  <a:lnTo>
                    <a:pt x="3000" y="23317"/>
                  </a:lnTo>
                  <a:lnTo>
                    <a:pt x="0" y="38176"/>
                  </a:lnTo>
                  <a:lnTo>
                    <a:pt x="0" y="295579"/>
                  </a:lnTo>
                  <a:lnTo>
                    <a:pt x="3000" y="310438"/>
                  </a:lnTo>
                  <a:lnTo>
                    <a:pt x="11182" y="322573"/>
                  </a:lnTo>
                  <a:lnTo>
                    <a:pt x="23317" y="330755"/>
                  </a:lnTo>
                  <a:lnTo>
                    <a:pt x="38176" y="333756"/>
                  </a:lnTo>
                  <a:lnTo>
                    <a:pt x="3862781" y="333756"/>
                  </a:lnTo>
                  <a:lnTo>
                    <a:pt x="3877640" y="330755"/>
                  </a:lnTo>
                  <a:lnTo>
                    <a:pt x="3889775" y="322573"/>
                  </a:lnTo>
                  <a:lnTo>
                    <a:pt x="3897957" y="310438"/>
                  </a:lnTo>
                  <a:lnTo>
                    <a:pt x="3900957" y="295579"/>
                  </a:lnTo>
                  <a:lnTo>
                    <a:pt x="3900957" y="38176"/>
                  </a:lnTo>
                  <a:lnTo>
                    <a:pt x="3897957" y="23317"/>
                  </a:lnTo>
                  <a:lnTo>
                    <a:pt x="3889775" y="11182"/>
                  </a:lnTo>
                  <a:lnTo>
                    <a:pt x="3877640" y="3000"/>
                  </a:lnTo>
                  <a:lnTo>
                    <a:pt x="3862781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80121" y="3796080"/>
            <a:ext cx="2827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ptos"/>
              </a:rPr>
              <a:t>Contingent Liabilities / Exposures</a:t>
            </a:r>
            <a:endParaRPr sz="2800" b="1" dirty="0">
              <a:latin typeface="Aptos"/>
              <a:cs typeface="Apto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98645" y="3743554"/>
            <a:ext cx="3942715" cy="2854325"/>
            <a:chOff x="4298645" y="3743554"/>
            <a:chExt cx="3942715" cy="2854325"/>
          </a:xfrm>
        </p:grpSpPr>
        <p:sp>
          <p:nvSpPr>
            <p:cNvPr id="19" name="object 19"/>
            <p:cNvSpPr/>
            <p:nvPr/>
          </p:nvSpPr>
          <p:spPr>
            <a:xfrm>
              <a:off x="4304995" y="3752693"/>
              <a:ext cx="3924935" cy="2838450"/>
            </a:xfrm>
            <a:custGeom>
              <a:avLst/>
              <a:gdLst/>
              <a:ahLst/>
              <a:cxnLst/>
              <a:rect l="l" t="t" r="r" b="b"/>
              <a:pathLst>
                <a:path w="3924934" h="2838450">
                  <a:moveTo>
                    <a:pt x="3866984" y="0"/>
                  </a:moveTo>
                  <a:lnTo>
                    <a:pt x="57619" y="0"/>
                  </a:lnTo>
                  <a:lnTo>
                    <a:pt x="35190" y="4527"/>
                  </a:lnTo>
                  <a:lnTo>
                    <a:pt x="16875" y="16875"/>
                  </a:lnTo>
                  <a:lnTo>
                    <a:pt x="4527" y="35190"/>
                  </a:lnTo>
                  <a:lnTo>
                    <a:pt x="0" y="57619"/>
                  </a:lnTo>
                  <a:lnTo>
                    <a:pt x="0" y="2780690"/>
                  </a:lnTo>
                  <a:lnTo>
                    <a:pt x="4527" y="2803112"/>
                  </a:lnTo>
                  <a:lnTo>
                    <a:pt x="16875" y="2821424"/>
                  </a:lnTo>
                  <a:lnTo>
                    <a:pt x="35190" y="2833770"/>
                  </a:lnTo>
                  <a:lnTo>
                    <a:pt x="57619" y="2838297"/>
                  </a:lnTo>
                  <a:lnTo>
                    <a:pt x="3866984" y="2838297"/>
                  </a:lnTo>
                  <a:lnTo>
                    <a:pt x="3889414" y="2833770"/>
                  </a:lnTo>
                  <a:lnTo>
                    <a:pt x="3907729" y="2821424"/>
                  </a:lnTo>
                  <a:lnTo>
                    <a:pt x="3920077" y="2803112"/>
                  </a:lnTo>
                  <a:lnTo>
                    <a:pt x="3924604" y="2780690"/>
                  </a:lnTo>
                  <a:lnTo>
                    <a:pt x="3924604" y="57619"/>
                  </a:lnTo>
                  <a:lnTo>
                    <a:pt x="3920077" y="35190"/>
                  </a:lnTo>
                  <a:lnTo>
                    <a:pt x="3907729" y="16875"/>
                  </a:lnTo>
                  <a:lnTo>
                    <a:pt x="3889414" y="4527"/>
                  </a:lnTo>
                  <a:lnTo>
                    <a:pt x="3866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4995" y="3752693"/>
              <a:ext cx="3924935" cy="2838450"/>
            </a:xfrm>
            <a:custGeom>
              <a:avLst/>
              <a:gdLst/>
              <a:ahLst/>
              <a:cxnLst/>
              <a:rect l="l" t="t" r="r" b="b"/>
              <a:pathLst>
                <a:path w="3924934" h="2838450">
                  <a:moveTo>
                    <a:pt x="0" y="57619"/>
                  </a:moveTo>
                  <a:lnTo>
                    <a:pt x="4527" y="35190"/>
                  </a:lnTo>
                  <a:lnTo>
                    <a:pt x="16875" y="16875"/>
                  </a:lnTo>
                  <a:lnTo>
                    <a:pt x="35190" y="4527"/>
                  </a:lnTo>
                  <a:lnTo>
                    <a:pt x="57619" y="0"/>
                  </a:lnTo>
                  <a:lnTo>
                    <a:pt x="3866984" y="0"/>
                  </a:lnTo>
                  <a:lnTo>
                    <a:pt x="3889414" y="4527"/>
                  </a:lnTo>
                  <a:lnTo>
                    <a:pt x="3907729" y="16875"/>
                  </a:lnTo>
                  <a:lnTo>
                    <a:pt x="3920077" y="35190"/>
                  </a:lnTo>
                  <a:lnTo>
                    <a:pt x="3924604" y="57619"/>
                  </a:lnTo>
                  <a:lnTo>
                    <a:pt x="3924604" y="2780690"/>
                  </a:lnTo>
                  <a:lnTo>
                    <a:pt x="3920077" y="2803112"/>
                  </a:lnTo>
                  <a:lnTo>
                    <a:pt x="3907729" y="2821424"/>
                  </a:lnTo>
                  <a:lnTo>
                    <a:pt x="3889414" y="2833770"/>
                  </a:lnTo>
                  <a:lnTo>
                    <a:pt x="3866984" y="2838297"/>
                  </a:lnTo>
                  <a:lnTo>
                    <a:pt x="57619" y="2838297"/>
                  </a:lnTo>
                  <a:lnTo>
                    <a:pt x="35190" y="2833770"/>
                  </a:lnTo>
                  <a:lnTo>
                    <a:pt x="16875" y="2821424"/>
                  </a:lnTo>
                  <a:lnTo>
                    <a:pt x="4527" y="2803112"/>
                  </a:lnTo>
                  <a:lnTo>
                    <a:pt x="0" y="2780690"/>
                  </a:lnTo>
                  <a:lnTo>
                    <a:pt x="0" y="57619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07280" y="3743554"/>
              <a:ext cx="3934460" cy="334010"/>
            </a:xfrm>
            <a:custGeom>
              <a:avLst/>
              <a:gdLst/>
              <a:ahLst/>
              <a:cxnLst/>
              <a:rect l="l" t="t" r="r" b="b"/>
              <a:pathLst>
                <a:path w="3934459" h="334010">
                  <a:moveTo>
                    <a:pt x="3895699" y="0"/>
                  </a:moveTo>
                  <a:lnTo>
                    <a:pt x="38176" y="0"/>
                  </a:lnTo>
                  <a:lnTo>
                    <a:pt x="23317" y="3000"/>
                  </a:lnTo>
                  <a:lnTo>
                    <a:pt x="11182" y="11182"/>
                  </a:lnTo>
                  <a:lnTo>
                    <a:pt x="3000" y="23317"/>
                  </a:lnTo>
                  <a:lnTo>
                    <a:pt x="0" y="38176"/>
                  </a:lnTo>
                  <a:lnTo>
                    <a:pt x="0" y="295579"/>
                  </a:lnTo>
                  <a:lnTo>
                    <a:pt x="3000" y="310438"/>
                  </a:lnTo>
                  <a:lnTo>
                    <a:pt x="11182" y="322573"/>
                  </a:lnTo>
                  <a:lnTo>
                    <a:pt x="23317" y="330755"/>
                  </a:lnTo>
                  <a:lnTo>
                    <a:pt x="38176" y="333756"/>
                  </a:lnTo>
                  <a:lnTo>
                    <a:pt x="3895699" y="333756"/>
                  </a:lnTo>
                  <a:lnTo>
                    <a:pt x="3910563" y="330755"/>
                  </a:lnTo>
                  <a:lnTo>
                    <a:pt x="3922698" y="322573"/>
                  </a:lnTo>
                  <a:lnTo>
                    <a:pt x="3930877" y="310438"/>
                  </a:lnTo>
                  <a:lnTo>
                    <a:pt x="3933875" y="295579"/>
                  </a:lnTo>
                  <a:lnTo>
                    <a:pt x="3933875" y="38176"/>
                  </a:lnTo>
                  <a:lnTo>
                    <a:pt x="3930877" y="23317"/>
                  </a:lnTo>
                  <a:lnTo>
                    <a:pt x="3922698" y="11182"/>
                  </a:lnTo>
                  <a:lnTo>
                    <a:pt x="3910563" y="3000"/>
                  </a:lnTo>
                  <a:lnTo>
                    <a:pt x="3895699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228794" y="3807207"/>
            <a:ext cx="31245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042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ptos"/>
              </a:rPr>
              <a:t>Auditors, Ratings &amp; CARO</a:t>
            </a:r>
            <a:endParaRPr sz="2800" b="1" dirty="0">
              <a:latin typeface="Aptos"/>
              <a:cs typeface="Apto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05495" y="3752692"/>
            <a:ext cx="3619500" cy="2838451"/>
            <a:chOff x="8305495" y="3752692"/>
            <a:chExt cx="3619500" cy="2838451"/>
          </a:xfrm>
        </p:grpSpPr>
        <p:sp>
          <p:nvSpPr>
            <p:cNvPr id="23" name="object 23"/>
            <p:cNvSpPr/>
            <p:nvPr/>
          </p:nvSpPr>
          <p:spPr>
            <a:xfrm>
              <a:off x="8305495" y="3752693"/>
              <a:ext cx="3619500" cy="2838450"/>
            </a:xfrm>
            <a:custGeom>
              <a:avLst/>
              <a:gdLst/>
              <a:ahLst/>
              <a:cxnLst/>
              <a:rect l="l" t="t" r="r" b="b"/>
              <a:pathLst>
                <a:path w="3619500" h="2838450">
                  <a:moveTo>
                    <a:pt x="3561575" y="0"/>
                  </a:moveTo>
                  <a:lnTo>
                    <a:pt x="57619" y="0"/>
                  </a:lnTo>
                  <a:lnTo>
                    <a:pt x="35190" y="4527"/>
                  </a:lnTo>
                  <a:lnTo>
                    <a:pt x="16875" y="16875"/>
                  </a:lnTo>
                  <a:lnTo>
                    <a:pt x="4527" y="35190"/>
                  </a:lnTo>
                  <a:lnTo>
                    <a:pt x="0" y="57619"/>
                  </a:lnTo>
                  <a:lnTo>
                    <a:pt x="0" y="2780690"/>
                  </a:lnTo>
                  <a:lnTo>
                    <a:pt x="4527" y="2803112"/>
                  </a:lnTo>
                  <a:lnTo>
                    <a:pt x="16875" y="2821424"/>
                  </a:lnTo>
                  <a:lnTo>
                    <a:pt x="35190" y="2833770"/>
                  </a:lnTo>
                  <a:lnTo>
                    <a:pt x="57619" y="2838297"/>
                  </a:lnTo>
                  <a:lnTo>
                    <a:pt x="3561575" y="2838297"/>
                  </a:lnTo>
                  <a:lnTo>
                    <a:pt x="3584005" y="2833770"/>
                  </a:lnTo>
                  <a:lnTo>
                    <a:pt x="3602320" y="2821424"/>
                  </a:lnTo>
                  <a:lnTo>
                    <a:pt x="3614667" y="2803112"/>
                  </a:lnTo>
                  <a:lnTo>
                    <a:pt x="3619195" y="2780690"/>
                  </a:lnTo>
                  <a:lnTo>
                    <a:pt x="3619195" y="57619"/>
                  </a:lnTo>
                  <a:lnTo>
                    <a:pt x="3614667" y="35190"/>
                  </a:lnTo>
                  <a:lnTo>
                    <a:pt x="3602320" y="16875"/>
                  </a:lnTo>
                  <a:lnTo>
                    <a:pt x="3584005" y="4527"/>
                  </a:lnTo>
                  <a:lnTo>
                    <a:pt x="3561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05495" y="3752693"/>
              <a:ext cx="3619500" cy="2838450"/>
            </a:xfrm>
            <a:custGeom>
              <a:avLst/>
              <a:gdLst/>
              <a:ahLst/>
              <a:cxnLst/>
              <a:rect l="l" t="t" r="r" b="b"/>
              <a:pathLst>
                <a:path w="3619500" h="2838450">
                  <a:moveTo>
                    <a:pt x="0" y="57619"/>
                  </a:moveTo>
                  <a:lnTo>
                    <a:pt x="4527" y="35190"/>
                  </a:lnTo>
                  <a:lnTo>
                    <a:pt x="16875" y="16875"/>
                  </a:lnTo>
                  <a:lnTo>
                    <a:pt x="35190" y="4527"/>
                  </a:lnTo>
                  <a:lnTo>
                    <a:pt x="57619" y="0"/>
                  </a:lnTo>
                  <a:lnTo>
                    <a:pt x="3561575" y="0"/>
                  </a:lnTo>
                  <a:lnTo>
                    <a:pt x="3584005" y="4527"/>
                  </a:lnTo>
                  <a:lnTo>
                    <a:pt x="3602320" y="16875"/>
                  </a:lnTo>
                  <a:lnTo>
                    <a:pt x="3614667" y="35190"/>
                  </a:lnTo>
                  <a:lnTo>
                    <a:pt x="3619195" y="57619"/>
                  </a:lnTo>
                  <a:lnTo>
                    <a:pt x="3619195" y="2780690"/>
                  </a:lnTo>
                  <a:lnTo>
                    <a:pt x="3614667" y="2803112"/>
                  </a:lnTo>
                  <a:lnTo>
                    <a:pt x="3602320" y="2821424"/>
                  </a:lnTo>
                  <a:lnTo>
                    <a:pt x="3584005" y="2833770"/>
                  </a:lnTo>
                  <a:lnTo>
                    <a:pt x="3561575" y="2838297"/>
                  </a:lnTo>
                  <a:lnTo>
                    <a:pt x="57619" y="2838297"/>
                  </a:lnTo>
                  <a:lnTo>
                    <a:pt x="35190" y="2833770"/>
                  </a:lnTo>
                  <a:lnTo>
                    <a:pt x="16875" y="2821424"/>
                  </a:lnTo>
                  <a:lnTo>
                    <a:pt x="4527" y="2803112"/>
                  </a:lnTo>
                  <a:lnTo>
                    <a:pt x="0" y="2780690"/>
                  </a:lnTo>
                  <a:lnTo>
                    <a:pt x="0" y="57619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17057" y="3752692"/>
              <a:ext cx="3589654" cy="324871"/>
            </a:xfrm>
            <a:custGeom>
              <a:avLst/>
              <a:gdLst/>
              <a:ahLst/>
              <a:cxnLst/>
              <a:rect l="l" t="t" r="r" b="b"/>
              <a:pathLst>
                <a:path w="3589654" h="334010">
                  <a:moveTo>
                    <a:pt x="3551161" y="0"/>
                  </a:moveTo>
                  <a:lnTo>
                    <a:pt x="38176" y="0"/>
                  </a:lnTo>
                  <a:lnTo>
                    <a:pt x="23317" y="3000"/>
                  </a:lnTo>
                  <a:lnTo>
                    <a:pt x="11182" y="11182"/>
                  </a:lnTo>
                  <a:lnTo>
                    <a:pt x="3000" y="23317"/>
                  </a:lnTo>
                  <a:lnTo>
                    <a:pt x="0" y="38176"/>
                  </a:lnTo>
                  <a:lnTo>
                    <a:pt x="0" y="295579"/>
                  </a:lnTo>
                  <a:lnTo>
                    <a:pt x="3000" y="310438"/>
                  </a:lnTo>
                  <a:lnTo>
                    <a:pt x="11182" y="322573"/>
                  </a:lnTo>
                  <a:lnTo>
                    <a:pt x="23317" y="330755"/>
                  </a:lnTo>
                  <a:lnTo>
                    <a:pt x="38176" y="333756"/>
                  </a:lnTo>
                  <a:lnTo>
                    <a:pt x="3551161" y="333756"/>
                  </a:lnTo>
                  <a:lnTo>
                    <a:pt x="3566027" y="330755"/>
                  </a:lnTo>
                  <a:lnTo>
                    <a:pt x="3578166" y="322573"/>
                  </a:lnTo>
                  <a:lnTo>
                    <a:pt x="3586349" y="310438"/>
                  </a:lnTo>
                  <a:lnTo>
                    <a:pt x="3589350" y="295579"/>
                  </a:lnTo>
                  <a:lnTo>
                    <a:pt x="3589350" y="38176"/>
                  </a:lnTo>
                  <a:lnTo>
                    <a:pt x="3586349" y="23317"/>
                  </a:lnTo>
                  <a:lnTo>
                    <a:pt x="3578166" y="11182"/>
                  </a:lnTo>
                  <a:lnTo>
                    <a:pt x="3566027" y="3000"/>
                  </a:lnTo>
                  <a:lnTo>
                    <a:pt x="3551161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400" b="1" dirty="0">
                  <a:latin typeface="Aptos"/>
                </a:rPr>
                <a:t>Management Direction</a:t>
              </a:r>
              <a:endParaRPr lang="en-US" sz="1400" b="1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sp>
        <p:nvSpPr>
          <p:cNvPr id="26" name="object 26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829800" y="6621102"/>
            <a:ext cx="2081232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04 | C</a:t>
            </a:r>
            <a:r>
              <a:rPr lang="en-US" sz="900" dirty="0">
                <a:latin typeface="Aptos"/>
              </a:rPr>
              <a:t>OMPANY NAME</a:t>
            </a:r>
            <a:r>
              <a:rPr sz="900" dirty="0">
                <a:latin typeface="Aptos"/>
              </a:rPr>
              <a:t> 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46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72599" y="96630"/>
            <a:ext cx="1619401" cy="696796"/>
          </a:xfrm>
          <a:prstGeom prst="rect">
            <a:avLst/>
          </a:prstGeom>
        </p:spPr>
      </p:pic>
      <p:sp>
        <p:nvSpPr>
          <p:cNvPr id="47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4"/>
            <a:ext cx="2629205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32313" y="126222"/>
            <a:ext cx="169153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ptos"/>
              </a:rPr>
              <a:t>05 · PEER COMPARISON</a:t>
            </a:r>
            <a:endParaRPr sz="1000" dirty="0">
              <a:latin typeface="Aptos"/>
              <a:cs typeface="Aptos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04483" y="324037"/>
            <a:ext cx="647731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lang="en-US" sz="2400" dirty="0">
                <a:latin typeface="Aptos"/>
              </a:rPr>
              <a:t>PEER COMPARISION</a:t>
            </a:r>
            <a:endParaRPr sz="2400" dirty="0">
              <a:latin typeface="Aptos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298144" y="869753"/>
            <a:ext cx="11612887" cy="3385131"/>
            <a:chOff x="298145" y="982094"/>
            <a:chExt cx="11633200" cy="3272790"/>
          </a:xfrm>
        </p:grpSpPr>
        <p:sp>
          <p:nvSpPr>
            <p:cNvPr id="3" name="object 3"/>
            <p:cNvSpPr/>
            <p:nvPr/>
          </p:nvSpPr>
          <p:spPr>
            <a:xfrm>
              <a:off x="304495" y="990292"/>
              <a:ext cx="11620500" cy="3258185"/>
            </a:xfrm>
            <a:custGeom>
              <a:avLst/>
              <a:gdLst/>
              <a:ahLst/>
              <a:cxnLst/>
              <a:rect l="l" t="t" r="r" b="b"/>
              <a:pathLst>
                <a:path w="11620500" h="3258185">
                  <a:moveTo>
                    <a:pt x="11562588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3200400"/>
                  </a:lnTo>
                  <a:lnTo>
                    <a:pt x="4527" y="3222822"/>
                  </a:lnTo>
                  <a:lnTo>
                    <a:pt x="16873" y="3241133"/>
                  </a:lnTo>
                  <a:lnTo>
                    <a:pt x="35184" y="3253479"/>
                  </a:lnTo>
                  <a:lnTo>
                    <a:pt x="57607" y="3258007"/>
                  </a:lnTo>
                  <a:lnTo>
                    <a:pt x="11562588" y="3258007"/>
                  </a:lnTo>
                  <a:lnTo>
                    <a:pt x="11585010" y="3253479"/>
                  </a:lnTo>
                  <a:lnTo>
                    <a:pt x="11603321" y="3241133"/>
                  </a:lnTo>
                  <a:lnTo>
                    <a:pt x="11615667" y="3222822"/>
                  </a:lnTo>
                  <a:lnTo>
                    <a:pt x="11620195" y="3200400"/>
                  </a:lnTo>
                  <a:lnTo>
                    <a:pt x="11620195" y="57607"/>
                  </a:lnTo>
                  <a:lnTo>
                    <a:pt x="11615667" y="35184"/>
                  </a:lnTo>
                  <a:lnTo>
                    <a:pt x="11603321" y="16873"/>
                  </a:lnTo>
                  <a:lnTo>
                    <a:pt x="11585010" y="4527"/>
                  </a:lnTo>
                  <a:lnTo>
                    <a:pt x="11562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4495" y="990292"/>
              <a:ext cx="11620500" cy="3258185"/>
            </a:xfrm>
            <a:custGeom>
              <a:avLst/>
              <a:gdLst/>
              <a:ahLst/>
              <a:cxnLst/>
              <a:rect l="l" t="t" r="r" b="b"/>
              <a:pathLst>
                <a:path w="11620500" h="325818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11562588" y="0"/>
                  </a:lnTo>
                  <a:lnTo>
                    <a:pt x="11585010" y="4527"/>
                  </a:lnTo>
                  <a:lnTo>
                    <a:pt x="11603321" y="16873"/>
                  </a:lnTo>
                  <a:lnTo>
                    <a:pt x="11615667" y="35184"/>
                  </a:lnTo>
                  <a:lnTo>
                    <a:pt x="11620195" y="57607"/>
                  </a:lnTo>
                  <a:lnTo>
                    <a:pt x="11620195" y="3200400"/>
                  </a:lnTo>
                  <a:lnTo>
                    <a:pt x="11615667" y="3222822"/>
                  </a:lnTo>
                  <a:lnTo>
                    <a:pt x="11603321" y="3241133"/>
                  </a:lnTo>
                  <a:lnTo>
                    <a:pt x="11585010" y="3253479"/>
                  </a:lnTo>
                  <a:lnTo>
                    <a:pt x="11562588" y="3258007"/>
                  </a:lnTo>
                  <a:lnTo>
                    <a:pt x="57607" y="3258007"/>
                  </a:lnTo>
                  <a:lnTo>
                    <a:pt x="35184" y="3253479"/>
                  </a:lnTo>
                  <a:lnTo>
                    <a:pt x="16873" y="3241133"/>
                  </a:lnTo>
                  <a:lnTo>
                    <a:pt x="4527" y="3222822"/>
                  </a:lnTo>
                  <a:lnTo>
                    <a:pt x="0" y="3200400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4495" y="982094"/>
              <a:ext cx="11621135" cy="267335"/>
            </a:xfrm>
            <a:custGeom>
              <a:avLst/>
              <a:gdLst/>
              <a:ahLst/>
              <a:cxnLst/>
              <a:rect l="l" t="t" r="r" b="b"/>
              <a:pathLst>
                <a:path w="11621135" h="267334">
                  <a:moveTo>
                    <a:pt x="11590566" y="0"/>
                  </a:moveTo>
                  <a:lnTo>
                    <a:pt x="30543" y="0"/>
                  </a:lnTo>
                  <a:lnTo>
                    <a:pt x="18655" y="2400"/>
                  </a:lnTo>
                  <a:lnTo>
                    <a:pt x="8947" y="8947"/>
                  </a:lnTo>
                  <a:lnTo>
                    <a:pt x="2400" y="18655"/>
                  </a:lnTo>
                  <a:lnTo>
                    <a:pt x="0" y="30543"/>
                  </a:lnTo>
                  <a:lnTo>
                    <a:pt x="0" y="236435"/>
                  </a:lnTo>
                  <a:lnTo>
                    <a:pt x="2400" y="248323"/>
                  </a:lnTo>
                  <a:lnTo>
                    <a:pt x="8947" y="258032"/>
                  </a:lnTo>
                  <a:lnTo>
                    <a:pt x="18655" y="264578"/>
                  </a:lnTo>
                  <a:lnTo>
                    <a:pt x="30543" y="266979"/>
                  </a:lnTo>
                  <a:lnTo>
                    <a:pt x="11590566" y="266979"/>
                  </a:lnTo>
                  <a:lnTo>
                    <a:pt x="11602453" y="264578"/>
                  </a:lnTo>
                  <a:lnTo>
                    <a:pt x="11612162" y="258032"/>
                  </a:lnTo>
                  <a:lnTo>
                    <a:pt x="11618708" y="248323"/>
                  </a:lnTo>
                  <a:lnTo>
                    <a:pt x="11621109" y="236435"/>
                  </a:lnTo>
                  <a:lnTo>
                    <a:pt x="11621109" y="30543"/>
                  </a:lnTo>
                  <a:lnTo>
                    <a:pt x="11618708" y="18655"/>
                  </a:lnTo>
                  <a:lnTo>
                    <a:pt x="11612162" y="8947"/>
                  </a:lnTo>
                  <a:lnTo>
                    <a:pt x="11602453" y="2400"/>
                  </a:lnTo>
                  <a:lnTo>
                    <a:pt x="11590566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98145" y="4375460"/>
            <a:ext cx="7842884" cy="2127885"/>
            <a:chOff x="298145" y="4375460"/>
            <a:chExt cx="7842884" cy="2127885"/>
          </a:xfrm>
        </p:grpSpPr>
        <p:sp>
          <p:nvSpPr>
            <p:cNvPr id="8" name="object 8"/>
            <p:cNvSpPr/>
            <p:nvPr/>
          </p:nvSpPr>
          <p:spPr>
            <a:xfrm>
              <a:off x="304495" y="4381810"/>
              <a:ext cx="7830184" cy="2115185"/>
            </a:xfrm>
            <a:custGeom>
              <a:avLst/>
              <a:gdLst/>
              <a:ahLst/>
              <a:cxnLst/>
              <a:rect l="l" t="t" r="r" b="b"/>
              <a:pathLst>
                <a:path w="7830184" h="2115185">
                  <a:moveTo>
                    <a:pt x="7772400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2057387"/>
                  </a:lnTo>
                  <a:lnTo>
                    <a:pt x="4527" y="2079817"/>
                  </a:lnTo>
                  <a:lnTo>
                    <a:pt x="16873" y="2098132"/>
                  </a:lnTo>
                  <a:lnTo>
                    <a:pt x="35184" y="2110479"/>
                  </a:lnTo>
                  <a:lnTo>
                    <a:pt x="57607" y="2115007"/>
                  </a:lnTo>
                  <a:lnTo>
                    <a:pt x="7772400" y="2115007"/>
                  </a:lnTo>
                  <a:lnTo>
                    <a:pt x="7794822" y="2110479"/>
                  </a:lnTo>
                  <a:lnTo>
                    <a:pt x="7813133" y="2098132"/>
                  </a:lnTo>
                  <a:lnTo>
                    <a:pt x="7825479" y="2079817"/>
                  </a:lnTo>
                  <a:lnTo>
                    <a:pt x="7830007" y="2057387"/>
                  </a:lnTo>
                  <a:lnTo>
                    <a:pt x="7830007" y="57607"/>
                  </a:lnTo>
                  <a:lnTo>
                    <a:pt x="7825479" y="35184"/>
                  </a:lnTo>
                  <a:lnTo>
                    <a:pt x="7813133" y="16873"/>
                  </a:lnTo>
                  <a:lnTo>
                    <a:pt x="7794822" y="4527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4495" y="4381810"/>
              <a:ext cx="7830184" cy="2115185"/>
            </a:xfrm>
            <a:custGeom>
              <a:avLst/>
              <a:gdLst/>
              <a:ahLst/>
              <a:cxnLst/>
              <a:rect l="l" t="t" r="r" b="b"/>
              <a:pathLst>
                <a:path w="7830184" h="2115185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7772400" y="0"/>
                  </a:lnTo>
                  <a:lnTo>
                    <a:pt x="7794822" y="4527"/>
                  </a:lnTo>
                  <a:lnTo>
                    <a:pt x="7813133" y="16873"/>
                  </a:lnTo>
                  <a:lnTo>
                    <a:pt x="7825479" y="35184"/>
                  </a:lnTo>
                  <a:lnTo>
                    <a:pt x="7830007" y="57607"/>
                  </a:lnTo>
                  <a:lnTo>
                    <a:pt x="7830007" y="2057387"/>
                  </a:lnTo>
                  <a:lnTo>
                    <a:pt x="7825479" y="2079817"/>
                  </a:lnTo>
                  <a:lnTo>
                    <a:pt x="7813133" y="2098132"/>
                  </a:lnTo>
                  <a:lnTo>
                    <a:pt x="7794822" y="2110479"/>
                  </a:lnTo>
                  <a:lnTo>
                    <a:pt x="7772400" y="2115007"/>
                  </a:lnTo>
                  <a:lnTo>
                    <a:pt x="57607" y="2115007"/>
                  </a:lnTo>
                  <a:lnTo>
                    <a:pt x="35184" y="2110479"/>
                  </a:lnTo>
                  <a:lnTo>
                    <a:pt x="16873" y="2098132"/>
                  </a:lnTo>
                  <a:lnTo>
                    <a:pt x="4527" y="2079817"/>
                  </a:lnTo>
                  <a:lnTo>
                    <a:pt x="0" y="2057387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495" y="4381798"/>
              <a:ext cx="7830184" cy="323850"/>
            </a:xfrm>
            <a:custGeom>
              <a:avLst/>
              <a:gdLst/>
              <a:ahLst/>
              <a:cxnLst/>
              <a:rect l="l" t="t" r="r" b="b"/>
              <a:pathLst>
                <a:path w="7830184" h="323850">
                  <a:moveTo>
                    <a:pt x="7792986" y="0"/>
                  </a:moveTo>
                  <a:lnTo>
                    <a:pt x="37020" y="0"/>
                  </a:lnTo>
                  <a:lnTo>
                    <a:pt x="22609" y="2911"/>
                  </a:lnTo>
                  <a:lnTo>
                    <a:pt x="10842" y="10848"/>
                  </a:lnTo>
                  <a:lnTo>
                    <a:pt x="2909" y="22620"/>
                  </a:lnTo>
                  <a:lnTo>
                    <a:pt x="0" y="37033"/>
                  </a:lnTo>
                  <a:lnTo>
                    <a:pt x="0" y="286677"/>
                  </a:lnTo>
                  <a:lnTo>
                    <a:pt x="2909" y="301087"/>
                  </a:lnTo>
                  <a:lnTo>
                    <a:pt x="10842" y="312854"/>
                  </a:lnTo>
                  <a:lnTo>
                    <a:pt x="22609" y="320788"/>
                  </a:lnTo>
                  <a:lnTo>
                    <a:pt x="37020" y="323697"/>
                  </a:lnTo>
                  <a:lnTo>
                    <a:pt x="7792986" y="323697"/>
                  </a:lnTo>
                  <a:lnTo>
                    <a:pt x="7807397" y="320788"/>
                  </a:lnTo>
                  <a:lnTo>
                    <a:pt x="7819164" y="312854"/>
                  </a:lnTo>
                  <a:lnTo>
                    <a:pt x="7827098" y="301087"/>
                  </a:lnTo>
                  <a:lnTo>
                    <a:pt x="7830007" y="286677"/>
                  </a:lnTo>
                  <a:lnTo>
                    <a:pt x="7830007" y="37033"/>
                  </a:lnTo>
                  <a:lnTo>
                    <a:pt x="7827098" y="22620"/>
                  </a:lnTo>
                  <a:lnTo>
                    <a:pt x="7819164" y="10848"/>
                  </a:lnTo>
                  <a:lnTo>
                    <a:pt x="7807397" y="2911"/>
                  </a:lnTo>
                  <a:lnTo>
                    <a:pt x="7792986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800" dirty="0">
                  <a:latin typeface="Aptos"/>
                </a:rPr>
                <a:t>Peer Read</a:t>
              </a:r>
              <a:endParaRPr lang="en-IN" sz="3600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204047" y="4375461"/>
            <a:ext cx="3728085" cy="1022350"/>
            <a:chOff x="8204047" y="4375461"/>
            <a:chExt cx="3728085" cy="1022350"/>
          </a:xfrm>
        </p:grpSpPr>
        <p:sp>
          <p:nvSpPr>
            <p:cNvPr id="12" name="object 12"/>
            <p:cNvSpPr/>
            <p:nvPr/>
          </p:nvSpPr>
          <p:spPr>
            <a:xfrm>
              <a:off x="8210397" y="4381811"/>
              <a:ext cx="3715385" cy="1009650"/>
            </a:xfrm>
            <a:custGeom>
              <a:avLst/>
              <a:gdLst/>
              <a:ahLst/>
              <a:cxnLst/>
              <a:rect l="l" t="t" r="r" b="b"/>
              <a:pathLst>
                <a:path w="3715384" h="1009650">
                  <a:moveTo>
                    <a:pt x="3657600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951877"/>
                  </a:lnTo>
                  <a:lnTo>
                    <a:pt x="4527" y="974302"/>
                  </a:lnTo>
                  <a:lnTo>
                    <a:pt x="16873" y="992617"/>
                  </a:lnTo>
                  <a:lnTo>
                    <a:pt x="35184" y="1004968"/>
                  </a:lnTo>
                  <a:lnTo>
                    <a:pt x="57607" y="1009497"/>
                  </a:lnTo>
                  <a:lnTo>
                    <a:pt x="3657600" y="1009497"/>
                  </a:lnTo>
                  <a:lnTo>
                    <a:pt x="3680022" y="1004968"/>
                  </a:lnTo>
                  <a:lnTo>
                    <a:pt x="3698333" y="992617"/>
                  </a:lnTo>
                  <a:lnTo>
                    <a:pt x="3710679" y="974302"/>
                  </a:lnTo>
                  <a:lnTo>
                    <a:pt x="3715207" y="951877"/>
                  </a:lnTo>
                  <a:lnTo>
                    <a:pt x="3715207" y="57607"/>
                  </a:lnTo>
                  <a:lnTo>
                    <a:pt x="3710679" y="35184"/>
                  </a:lnTo>
                  <a:lnTo>
                    <a:pt x="3698333" y="16873"/>
                  </a:lnTo>
                  <a:lnTo>
                    <a:pt x="3680022" y="4527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FFF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210397" y="4381811"/>
              <a:ext cx="3715385" cy="1009650"/>
            </a:xfrm>
            <a:custGeom>
              <a:avLst/>
              <a:gdLst/>
              <a:ahLst/>
              <a:cxnLst/>
              <a:rect l="l" t="t" r="r" b="b"/>
              <a:pathLst>
                <a:path w="3715384" h="100965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3657600" y="0"/>
                  </a:lnTo>
                  <a:lnTo>
                    <a:pt x="3680022" y="4527"/>
                  </a:lnTo>
                  <a:lnTo>
                    <a:pt x="3698333" y="16873"/>
                  </a:lnTo>
                  <a:lnTo>
                    <a:pt x="3710679" y="35184"/>
                  </a:lnTo>
                  <a:lnTo>
                    <a:pt x="3715207" y="57607"/>
                  </a:lnTo>
                  <a:lnTo>
                    <a:pt x="3715207" y="951877"/>
                  </a:lnTo>
                  <a:lnTo>
                    <a:pt x="3710679" y="974302"/>
                  </a:lnTo>
                  <a:lnTo>
                    <a:pt x="3698333" y="992617"/>
                  </a:lnTo>
                  <a:lnTo>
                    <a:pt x="3680022" y="1004968"/>
                  </a:lnTo>
                  <a:lnTo>
                    <a:pt x="3657600" y="1009497"/>
                  </a:lnTo>
                  <a:lnTo>
                    <a:pt x="57607" y="1009497"/>
                  </a:lnTo>
                  <a:lnTo>
                    <a:pt x="35184" y="1004968"/>
                  </a:lnTo>
                  <a:lnTo>
                    <a:pt x="16873" y="992617"/>
                  </a:lnTo>
                  <a:lnTo>
                    <a:pt x="4527" y="974302"/>
                  </a:lnTo>
                  <a:lnTo>
                    <a:pt x="0" y="951877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F5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8210397" y="5486406"/>
            <a:ext cx="3715385" cy="1009650"/>
          </a:xfrm>
          <a:custGeom>
            <a:avLst/>
            <a:gdLst/>
            <a:ahLst/>
            <a:cxnLst/>
            <a:rect l="l" t="t" r="r" b="b"/>
            <a:pathLst>
              <a:path w="3715384" h="1009650">
                <a:moveTo>
                  <a:pt x="0" y="57607"/>
                </a:moveTo>
                <a:lnTo>
                  <a:pt x="4527" y="35184"/>
                </a:lnTo>
                <a:lnTo>
                  <a:pt x="16873" y="16873"/>
                </a:lnTo>
                <a:lnTo>
                  <a:pt x="35184" y="4527"/>
                </a:lnTo>
                <a:lnTo>
                  <a:pt x="57607" y="0"/>
                </a:lnTo>
                <a:lnTo>
                  <a:pt x="3657600" y="0"/>
                </a:lnTo>
                <a:lnTo>
                  <a:pt x="3680022" y="4527"/>
                </a:lnTo>
                <a:lnTo>
                  <a:pt x="3698333" y="16873"/>
                </a:lnTo>
                <a:lnTo>
                  <a:pt x="3710679" y="35184"/>
                </a:lnTo>
                <a:lnTo>
                  <a:pt x="3715207" y="57607"/>
                </a:lnTo>
                <a:lnTo>
                  <a:pt x="3715207" y="951877"/>
                </a:lnTo>
                <a:lnTo>
                  <a:pt x="3710679" y="974302"/>
                </a:lnTo>
                <a:lnTo>
                  <a:pt x="3698333" y="992617"/>
                </a:lnTo>
                <a:lnTo>
                  <a:pt x="3680022" y="1004968"/>
                </a:lnTo>
                <a:lnTo>
                  <a:pt x="3657600" y="1009497"/>
                </a:lnTo>
                <a:lnTo>
                  <a:pt x="57607" y="1009497"/>
                </a:lnTo>
                <a:lnTo>
                  <a:pt x="35184" y="1004968"/>
                </a:lnTo>
                <a:lnTo>
                  <a:pt x="16873" y="992617"/>
                </a:lnTo>
                <a:lnTo>
                  <a:pt x="4527" y="974302"/>
                </a:lnTo>
                <a:lnTo>
                  <a:pt x="0" y="951877"/>
                </a:lnTo>
                <a:lnTo>
                  <a:pt x="0" y="57607"/>
                </a:lnTo>
                <a:close/>
              </a:path>
            </a:pathLst>
          </a:custGeom>
          <a:ln w="12700">
            <a:solidFill>
              <a:srgbClr val="D6D3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058400" y="6621102"/>
            <a:ext cx="1852632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05 | C</a:t>
            </a:r>
            <a:r>
              <a:rPr lang="en-US" sz="900" dirty="0">
                <a:latin typeface="Aptos"/>
              </a:rPr>
              <a:t>OMPANY NAME</a:t>
            </a:r>
            <a:r>
              <a:rPr sz="900" dirty="0">
                <a:latin typeface="Aptos"/>
              </a:rPr>
              <a:t> 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25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15600" y="108737"/>
            <a:ext cx="1619401" cy="696796"/>
          </a:xfrm>
          <a:prstGeom prst="rect">
            <a:avLst/>
          </a:prstGeom>
        </p:spPr>
      </p:pic>
      <p:sp>
        <p:nvSpPr>
          <p:cNvPr id="27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4"/>
            <a:ext cx="2629205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  <p:sp>
        <p:nvSpPr>
          <p:cNvPr id="28" name="object 10"/>
          <p:cNvSpPr/>
          <p:nvPr/>
        </p:nvSpPr>
        <p:spPr>
          <a:xfrm>
            <a:off x="8226324" y="5486406"/>
            <a:ext cx="3698671" cy="276782"/>
          </a:xfrm>
          <a:custGeom>
            <a:avLst/>
            <a:gdLst/>
            <a:ahLst/>
            <a:cxnLst/>
            <a:rect l="l" t="t" r="r" b="b"/>
            <a:pathLst>
              <a:path w="7830184" h="323850">
                <a:moveTo>
                  <a:pt x="7792986" y="0"/>
                </a:moveTo>
                <a:lnTo>
                  <a:pt x="37020" y="0"/>
                </a:lnTo>
                <a:lnTo>
                  <a:pt x="22609" y="2911"/>
                </a:lnTo>
                <a:lnTo>
                  <a:pt x="10842" y="10848"/>
                </a:lnTo>
                <a:lnTo>
                  <a:pt x="2909" y="22620"/>
                </a:lnTo>
                <a:lnTo>
                  <a:pt x="0" y="37033"/>
                </a:lnTo>
                <a:lnTo>
                  <a:pt x="0" y="286677"/>
                </a:lnTo>
                <a:lnTo>
                  <a:pt x="2909" y="301087"/>
                </a:lnTo>
                <a:lnTo>
                  <a:pt x="10842" y="312854"/>
                </a:lnTo>
                <a:lnTo>
                  <a:pt x="22609" y="320788"/>
                </a:lnTo>
                <a:lnTo>
                  <a:pt x="37020" y="323697"/>
                </a:lnTo>
                <a:lnTo>
                  <a:pt x="7792986" y="323697"/>
                </a:lnTo>
                <a:lnTo>
                  <a:pt x="7807397" y="320788"/>
                </a:lnTo>
                <a:lnTo>
                  <a:pt x="7819164" y="312854"/>
                </a:lnTo>
                <a:lnTo>
                  <a:pt x="7827098" y="301087"/>
                </a:lnTo>
                <a:lnTo>
                  <a:pt x="7830007" y="286677"/>
                </a:lnTo>
                <a:lnTo>
                  <a:pt x="7830007" y="37033"/>
                </a:lnTo>
                <a:lnTo>
                  <a:pt x="7827098" y="22620"/>
                </a:lnTo>
                <a:lnTo>
                  <a:pt x="7819164" y="10848"/>
                </a:lnTo>
                <a:lnTo>
                  <a:pt x="7807397" y="2911"/>
                </a:lnTo>
                <a:lnTo>
                  <a:pt x="7792986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374535" y="812441"/>
            <a:ext cx="1237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Company</a:t>
            </a:r>
            <a:endParaRPr lang="en-IN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5356317" y="851197"/>
            <a:ext cx="1237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P/B</a:t>
            </a:r>
            <a:endParaRPr lang="en-IN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3373388" y="865022"/>
            <a:ext cx="1237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P/E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9584" y="61153"/>
            <a:ext cx="3819016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solidFill>
                  <a:srgbClr val="626B78"/>
                </a:solidFill>
                <a:latin typeface="Aptos"/>
                <a:cs typeface="Aptos"/>
              </a:rPr>
              <a:t>06</a:t>
            </a:r>
            <a:r>
              <a:rPr sz="1000" spc="-35" dirty="0">
                <a:solidFill>
                  <a:srgbClr val="626B78"/>
                </a:solidFill>
                <a:latin typeface="Aptos"/>
                <a:cs typeface="Aptos"/>
              </a:rPr>
              <a:t> </a:t>
            </a:r>
            <a:r>
              <a:rPr sz="1000" spc="-40" dirty="0">
                <a:solidFill>
                  <a:srgbClr val="626B78"/>
                </a:solidFill>
                <a:latin typeface="Aptos"/>
                <a:cs typeface="Aptos"/>
              </a:rPr>
              <a:t>· </a:t>
            </a:r>
            <a:r>
              <a:rPr sz="1000" spc="-70" dirty="0">
                <a:solidFill>
                  <a:srgbClr val="626B78"/>
                </a:solidFill>
                <a:latin typeface="Aptos"/>
                <a:cs typeface="Aptos"/>
              </a:rPr>
              <a:t>STOCK</a:t>
            </a:r>
            <a:r>
              <a:rPr sz="1000" spc="-25" dirty="0">
                <a:solidFill>
                  <a:srgbClr val="626B78"/>
                </a:solidFill>
                <a:latin typeface="Aptos"/>
                <a:cs typeface="Aptos"/>
              </a:rPr>
              <a:t> </a:t>
            </a:r>
            <a:r>
              <a:rPr sz="1000" spc="-65" dirty="0">
                <a:solidFill>
                  <a:srgbClr val="626B78"/>
                </a:solidFill>
                <a:latin typeface="Aptos"/>
                <a:cs typeface="Aptos"/>
              </a:rPr>
              <a:t>PERFORMANCE</a:t>
            </a:r>
            <a:r>
              <a:rPr sz="1000" spc="-55" dirty="0">
                <a:solidFill>
                  <a:srgbClr val="626B78"/>
                </a:solidFill>
                <a:latin typeface="Aptos"/>
                <a:cs typeface="Aptos"/>
              </a:rPr>
              <a:t> </a:t>
            </a:r>
            <a:r>
              <a:rPr sz="1000" spc="-40" dirty="0">
                <a:solidFill>
                  <a:srgbClr val="626B78"/>
                </a:solidFill>
                <a:latin typeface="Aptos"/>
                <a:cs typeface="Aptos"/>
              </a:rPr>
              <a:t>·</a:t>
            </a:r>
            <a:r>
              <a:rPr sz="1000" spc="-25" dirty="0">
                <a:solidFill>
                  <a:srgbClr val="626B78"/>
                </a:solidFill>
                <a:latin typeface="Aptos"/>
                <a:cs typeface="Aptos"/>
              </a:rPr>
              <a:t> </a:t>
            </a:r>
            <a:r>
              <a:rPr sz="1000" spc="-50" dirty="0">
                <a:solidFill>
                  <a:srgbClr val="626B78"/>
                </a:solidFill>
                <a:latin typeface="Aptos"/>
                <a:cs typeface="Aptos"/>
              </a:rPr>
              <a:t>TECHNICAL</a:t>
            </a:r>
            <a:r>
              <a:rPr sz="1000" spc="-40" dirty="0">
                <a:solidFill>
                  <a:srgbClr val="626B78"/>
                </a:solidFill>
                <a:latin typeface="Aptos"/>
                <a:cs typeface="Aptos"/>
              </a:rPr>
              <a:t> · </a:t>
            </a:r>
            <a:r>
              <a:rPr sz="1000" spc="-60" dirty="0">
                <a:solidFill>
                  <a:srgbClr val="626B78"/>
                </a:solidFill>
                <a:latin typeface="Aptos"/>
                <a:cs typeface="Aptos"/>
              </a:rPr>
              <a:t>VALUATION</a:t>
            </a:r>
            <a:r>
              <a:rPr sz="1000" spc="-40" dirty="0">
                <a:solidFill>
                  <a:srgbClr val="626B78"/>
                </a:solidFill>
                <a:latin typeface="Aptos"/>
                <a:cs typeface="Aptos"/>
              </a:rPr>
              <a:t> · </a:t>
            </a:r>
            <a:r>
              <a:rPr sz="1000" spc="-30" dirty="0">
                <a:solidFill>
                  <a:srgbClr val="626B78"/>
                </a:solidFill>
                <a:latin typeface="Aptos"/>
                <a:cs typeface="Aptos"/>
              </a:rPr>
              <a:t>MANAGEMENT</a:t>
            </a:r>
            <a:endParaRPr sz="1000" dirty="0">
              <a:latin typeface="Aptos"/>
              <a:cs typeface="Apto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3151" y="243332"/>
            <a:ext cx="921564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ptos"/>
              </a:rPr>
              <a:t>STOCK PERFORMANCE · TECHNICAL · VALUATION · MANAGEMENT</a:t>
            </a:r>
            <a:endParaRPr sz="2400" dirty="0"/>
          </a:p>
        </p:txBody>
      </p:sp>
      <p:grpSp>
        <p:nvGrpSpPr>
          <p:cNvPr id="5" name="object 5"/>
          <p:cNvGrpSpPr/>
          <p:nvPr/>
        </p:nvGrpSpPr>
        <p:grpSpPr>
          <a:xfrm>
            <a:off x="128949" y="786383"/>
            <a:ext cx="5894847" cy="2578735"/>
            <a:chOff x="109728" y="786383"/>
            <a:chExt cx="5852160" cy="2578735"/>
          </a:xfrm>
        </p:grpSpPr>
        <p:sp>
          <p:nvSpPr>
            <p:cNvPr id="6" name="object 6"/>
            <p:cNvSpPr/>
            <p:nvPr/>
          </p:nvSpPr>
          <p:spPr>
            <a:xfrm>
              <a:off x="4344728" y="786383"/>
              <a:ext cx="1617159" cy="2578735"/>
            </a:xfrm>
            <a:custGeom>
              <a:avLst/>
              <a:gdLst/>
              <a:ahLst/>
              <a:cxnLst/>
              <a:rect l="l" t="t" r="r" b="b"/>
              <a:pathLst>
                <a:path w="5852160" h="2578735">
                  <a:moveTo>
                    <a:pt x="5852160" y="0"/>
                  </a:moveTo>
                  <a:lnTo>
                    <a:pt x="0" y="0"/>
                  </a:lnTo>
                  <a:lnTo>
                    <a:pt x="0" y="2578608"/>
                  </a:lnTo>
                  <a:lnTo>
                    <a:pt x="5852160" y="2578608"/>
                  </a:lnTo>
                  <a:lnTo>
                    <a:pt x="5852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9728" y="786383"/>
              <a:ext cx="5852160" cy="2578735"/>
            </a:xfrm>
            <a:custGeom>
              <a:avLst/>
              <a:gdLst/>
              <a:ahLst/>
              <a:cxnLst/>
              <a:rect l="l" t="t" r="r" b="b"/>
              <a:pathLst>
                <a:path w="5852160" h="2578735">
                  <a:moveTo>
                    <a:pt x="0" y="0"/>
                  </a:moveTo>
                  <a:lnTo>
                    <a:pt x="5852160" y="0"/>
                  </a:lnTo>
                  <a:lnTo>
                    <a:pt x="5852160" y="2578608"/>
                  </a:lnTo>
                  <a:lnTo>
                    <a:pt x="0" y="257860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9728" y="786386"/>
              <a:ext cx="5852160" cy="256540"/>
            </a:xfrm>
            <a:custGeom>
              <a:avLst/>
              <a:gdLst/>
              <a:ahLst/>
              <a:cxnLst/>
              <a:rect l="l" t="t" r="r" b="b"/>
              <a:pathLst>
                <a:path w="5852160" h="256540">
                  <a:moveTo>
                    <a:pt x="5809488" y="0"/>
                  </a:moveTo>
                  <a:lnTo>
                    <a:pt x="42672" y="0"/>
                  </a:lnTo>
                  <a:lnTo>
                    <a:pt x="26060" y="3352"/>
                  </a:lnTo>
                  <a:lnTo>
                    <a:pt x="12496" y="12496"/>
                  </a:lnTo>
                  <a:lnTo>
                    <a:pt x="3352" y="26060"/>
                  </a:lnTo>
                  <a:lnTo>
                    <a:pt x="0" y="42672"/>
                  </a:lnTo>
                  <a:lnTo>
                    <a:pt x="0" y="213347"/>
                  </a:lnTo>
                  <a:lnTo>
                    <a:pt x="3352" y="229960"/>
                  </a:lnTo>
                  <a:lnTo>
                    <a:pt x="12496" y="243528"/>
                  </a:lnTo>
                  <a:lnTo>
                    <a:pt x="26060" y="252677"/>
                  </a:lnTo>
                  <a:lnTo>
                    <a:pt x="42672" y="256032"/>
                  </a:lnTo>
                  <a:lnTo>
                    <a:pt x="5809488" y="256032"/>
                  </a:lnTo>
                  <a:lnTo>
                    <a:pt x="5826099" y="252677"/>
                  </a:lnTo>
                  <a:lnTo>
                    <a:pt x="5839663" y="243528"/>
                  </a:lnTo>
                  <a:lnTo>
                    <a:pt x="5848807" y="229960"/>
                  </a:lnTo>
                  <a:lnTo>
                    <a:pt x="5852160" y="213347"/>
                  </a:lnTo>
                  <a:lnTo>
                    <a:pt x="5852160" y="42672"/>
                  </a:lnTo>
                  <a:lnTo>
                    <a:pt x="5848807" y="26060"/>
                  </a:lnTo>
                  <a:lnTo>
                    <a:pt x="5839663" y="12496"/>
                  </a:lnTo>
                  <a:lnTo>
                    <a:pt x="5826099" y="3352"/>
                  </a:lnTo>
                  <a:lnTo>
                    <a:pt x="5809488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600" b="1" dirty="0">
                  <a:latin typeface="Aptos"/>
                </a:rPr>
                <a:t>Price Action — 52-Week Context</a:t>
              </a:r>
              <a:endParaRPr lang="en-IN" sz="3200" b="1" dirty="0">
                <a:latin typeface="Aptos"/>
                <a:cs typeface="Aptos"/>
              </a:endParaRPr>
            </a:p>
            <a:p>
              <a:endParaRPr dirty="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101841" y="780033"/>
            <a:ext cx="5864860" cy="2591435"/>
            <a:chOff x="6101841" y="780033"/>
            <a:chExt cx="5864860" cy="2591435"/>
          </a:xfrm>
        </p:grpSpPr>
        <p:sp>
          <p:nvSpPr>
            <p:cNvPr id="11" name="object 11"/>
            <p:cNvSpPr/>
            <p:nvPr/>
          </p:nvSpPr>
          <p:spPr>
            <a:xfrm>
              <a:off x="6108191" y="786383"/>
              <a:ext cx="5852160" cy="2578735"/>
            </a:xfrm>
            <a:custGeom>
              <a:avLst/>
              <a:gdLst/>
              <a:ahLst/>
              <a:cxnLst/>
              <a:rect l="l" t="t" r="r" b="b"/>
              <a:pathLst>
                <a:path w="5852159" h="2578735">
                  <a:moveTo>
                    <a:pt x="5852160" y="0"/>
                  </a:moveTo>
                  <a:lnTo>
                    <a:pt x="0" y="0"/>
                  </a:lnTo>
                  <a:lnTo>
                    <a:pt x="0" y="2578608"/>
                  </a:lnTo>
                  <a:lnTo>
                    <a:pt x="5852160" y="2578608"/>
                  </a:lnTo>
                  <a:lnTo>
                    <a:pt x="5852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108191" y="786383"/>
              <a:ext cx="5852160" cy="2578735"/>
            </a:xfrm>
            <a:custGeom>
              <a:avLst/>
              <a:gdLst/>
              <a:ahLst/>
              <a:cxnLst/>
              <a:rect l="l" t="t" r="r" b="b"/>
              <a:pathLst>
                <a:path w="5852159" h="2578735">
                  <a:moveTo>
                    <a:pt x="0" y="0"/>
                  </a:moveTo>
                  <a:lnTo>
                    <a:pt x="5852160" y="0"/>
                  </a:lnTo>
                  <a:lnTo>
                    <a:pt x="5852160" y="2578608"/>
                  </a:lnTo>
                  <a:lnTo>
                    <a:pt x="0" y="257860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08191" y="786386"/>
              <a:ext cx="5852160" cy="256540"/>
            </a:xfrm>
            <a:custGeom>
              <a:avLst/>
              <a:gdLst/>
              <a:ahLst/>
              <a:cxnLst/>
              <a:rect l="l" t="t" r="r" b="b"/>
              <a:pathLst>
                <a:path w="5852159" h="256540">
                  <a:moveTo>
                    <a:pt x="5809488" y="0"/>
                  </a:moveTo>
                  <a:lnTo>
                    <a:pt x="42672" y="0"/>
                  </a:lnTo>
                  <a:lnTo>
                    <a:pt x="26060" y="3352"/>
                  </a:lnTo>
                  <a:lnTo>
                    <a:pt x="12496" y="12496"/>
                  </a:lnTo>
                  <a:lnTo>
                    <a:pt x="3352" y="26060"/>
                  </a:lnTo>
                  <a:lnTo>
                    <a:pt x="0" y="42672"/>
                  </a:lnTo>
                  <a:lnTo>
                    <a:pt x="0" y="213347"/>
                  </a:lnTo>
                  <a:lnTo>
                    <a:pt x="3352" y="229960"/>
                  </a:lnTo>
                  <a:lnTo>
                    <a:pt x="12496" y="243528"/>
                  </a:lnTo>
                  <a:lnTo>
                    <a:pt x="26060" y="252677"/>
                  </a:lnTo>
                  <a:lnTo>
                    <a:pt x="42672" y="256032"/>
                  </a:lnTo>
                  <a:lnTo>
                    <a:pt x="5809488" y="256032"/>
                  </a:lnTo>
                  <a:lnTo>
                    <a:pt x="5826099" y="252677"/>
                  </a:lnTo>
                  <a:lnTo>
                    <a:pt x="5839663" y="243528"/>
                  </a:lnTo>
                  <a:lnTo>
                    <a:pt x="5848807" y="229960"/>
                  </a:lnTo>
                  <a:lnTo>
                    <a:pt x="5852160" y="213347"/>
                  </a:lnTo>
                  <a:lnTo>
                    <a:pt x="5852160" y="42672"/>
                  </a:lnTo>
                  <a:lnTo>
                    <a:pt x="5848807" y="26060"/>
                  </a:lnTo>
                  <a:lnTo>
                    <a:pt x="5839663" y="12496"/>
                  </a:lnTo>
                  <a:lnTo>
                    <a:pt x="5826099" y="3352"/>
                  </a:lnTo>
                  <a:lnTo>
                    <a:pt x="5809488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360922" y="781303"/>
            <a:ext cx="3132612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Aptos"/>
              </a:rPr>
              <a:t>Fundamental — Valuation Snapshot</a:t>
            </a:r>
            <a:endParaRPr sz="3200" b="1" dirty="0">
              <a:latin typeface="Aptos"/>
              <a:cs typeface="Apto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728" y="3493011"/>
            <a:ext cx="3585381" cy="2348865"/>
            <a:chOff x="109728" y="3493010"/>
            <a:chExt cx="3585381" cy="3063888"/>
          </a:xfrm>
        </p:grpSpPr>
        <p:sp>
          <p:nvSpPr>
            <p:cNvPr id="15" name="object 15"/>
            <p:cNvSpPr/>
            <p:nvPr/>
          </p:nvSpPr>
          <p:spPr>
            <a:xfrm>
              <a:off x="128949" y="3831478"/>
              <a:ext cx="3566160" cy="2725420"/>
            </a:xfrm>
            <a:custGeom>
              <a:avLst/>
              <a:gdLst/>
              <a:ahLst/>
              <a:cxnLst/>
              <a:rect l="l" t="t" r="r" b="b"/>
              <a:pathLst>
                <a:path w="3566160" h="2725420">
                  <a:moveTo>
                    <a:pt x="3566160" y="0"/>
                  </a:moveTo>
                  <a:lnTo>
                    <a:pt x="0" y="0"/>
                  </a:lnTo>
                  <a:lnTo>
                    <a:pt x="0" y="2724912"/>
                  </a:lnTo>
                  <a:lnTo>
                    <a:pt x="3566160" y="2724912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9728" y="3493010"/>
              <a:ext cx="3566160" cy="364107"/>
            </a:xfrm>
            <a:custGeom>
              <a:avLst/>
              <a:gdLst/>
              <a:ahLst/>
              <a:cxnLst/>
              <a:rect l="l" t="t" r="r" b="b"/>
              <a:pathLst>
                <a:path w="3566160" h="256539">
                  <a:moveTo>
                    <a:pt x="3523488" y="0"/>
                  </a:moveTo>
                  <a:lnTo>
                    <a:pt x="42672" y="0"/>
                  </a:lnTo>
                  <a:lnTo>
                    <a:pt x="26060" y="3352"/>
                  </a:lnTo>
                  <a:lnTo>
                    <a:pt x="12496" y="12496"/>
                  </a:lnTo>
                  <a:lnTo>
                    <a:pt x="3352" y="26060"/>
                  </a:lnTo>
                  <a:lnTo>
                    <a:pt x="0" y="42672"/>
                  </a:lnTo>
                  <a:lnTo>
                    <a:pt x="0" y="213360"/>
                  </a:lnTo>
                  <a:lnTo>
                    <a:pt x="3352" y="229966"/>
                  </a:lnTo>
                  <a:lnTo>
                    <a:pt x="12496" y="243530"/>
                  </a:lnTo>
                  <a:lnTo>
                    <a:pt x="26060" y="252677"/>
                  </a:lnTo>
                  <a:lnTo>
                    <a:pt x="42672" y="256032"/>
                  </a:lnTo>
                  <a:lnTo>
                    <a:pt x="3523488" y="256032"/>
                  </a:lnTo>
                  <a:lnTo>
                    <a:pt x="3540099" y="252677"/>
                  </a:lnTo>
                  <a:lnTo>
                    <a:pt x="3553663" y="243530"/>
                  </a:lnTo>
                  <a:lnTo>
                    <a:pt x="3562807" y="229966"/>
                  </a:lnTo>
                  <a:lnTo>
                    <a:pt x="3566160" y="213360"/>
                  </a:lnTo>
                  <a:lnTo>
                    <a:pt x="3566160" y="42672"/>
                  </a:lnTo>
                  <a:lnTo>
                    <a:pt x="3562807" y="26060"/>
                  </a:lnTo>
                  <a:lnTo>
                    <a:pt x="3553663" y="12496"/>
                  </a:lnTo>
                  <a:lnTo>
                    <a:pt x="3540099" y="3352"/>
                  </a:lnTo>
                  <a:lnTo>
                    <a:pt x="3523488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600" b="1" dirty="0">
                  <a:latin typeface="+mj-lt"/>
                </a:rPr>
                <a:t>Technical Read</a:t>
              </a:r>
              <a:endParaRPr sz="1600" b="1" dirty="0">
                <a:latin typeface="+mj-lt"/>
              </a:endParaRPr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730752" y="3492992"/>
            <a:ext cx="8229854" cy="3099757"/>
            <a:chOff x="3730752" y="3493008"/>
            <a:chExt cx="8229854" cy="2725420"/>
          </a:xfrm>
        </p:grpSpPr>
        <p:sp>
          <p:nvSpPr>
            <p:cNvPr id="18" name="object 18"/>
            <p:cNvSpPr/>
            <p:nvPr/>
          </p:nvSpPr>
          <p:spPr>
            <a:xfrm>
              <a:off x="3730752" y="3493008"/>
              <a:ext cx="3886200" cy="2725420"/>
            </a:xfrm>
            <a:custGeom>
              <a:avLst/>
              <a:gdLst/>
              <a:ahLst/>
              <a:cxnLst/>
              <a:rect l="l" t="t" r="r" b="b"/>
              <a:pathLst>
                <a:path w="3886200" h="2725420">
                  <a:moveTo>
                    <a:pt x="3886200" y="0"/>
                  </a:moveTo>
                  <a:lnTo>
                    <a:pt x="0" y="0"/>
                  </a:lnTo>
                  <a:lnTo>
                    <a:pt x="0" y="2724912"/>
                  </a:lnTo>
                  <a:lnTo>
                    <a:pt x="3886200" y="2724912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730752" y="3493008"/>
              <a:ext cx="3886200" cy="2725420"/>
            </a:xfrm>
            <a:custGeom>
              <a:avLst/>
              <a:gdLst/>
              <a:ahLst/>
              <a:cxnLst/>
              <a:rect l="l" t="t" r="r" b="b"/>
              <a:pathLst>
                <a:path w="3886200" h="2725420">
                  <a:moveTo>
                    <a:pt x="0" y="0"/>
                  </a:moveTo>
                  <a:lnTo>
                    <a:pt x="3886200" y="0"/>
                  </a:lnTo>
                  <a:lnTo>
                    <a:pt x="3886200" y="2724912"/>
                  </a:lnTo>
                  <a:lnTo>
                    <a:pt x="0" y="27249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71816" y="3493008"/>
              <a:ext cx="4288790" cy="2354345"/>
            </a:xfrm>
            <a:custGeom>
              <a:avLst/>
              <a:gdLst/>
              <a:ahLst/>
              <a:cxnLst/>
              <a:rect l="l" t="t" r="r" b="b"/>
              <a:pathLst>
                <a:path w="4288790" h="2725420">
                  <a:moveTo>
                    <a:pt x="4288535" y="0"/>
                  </a:moveTo>
                  <a:lnTo>
                    <a:pt x="0" y="0"/>
                  </a:lnTo>
                  <a:lnTo>
                    <a:pt x="0" y="2724912"/>
                  </a:lnTo>
                  <a:lnTo>
                    <a:pt x="4288535" y="2724912"/>
                  </a:lnTo>
                  <a:lnTo>
                    <a:pt x="4288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71816" y="3493008"/>
              <a:ext cx="4288790" cy="2725420"/>
            </a:xfrm>
            <a:custGeom>
              <a:avLst/>
              <a:gdLst/>
              <a:ahLst/>
              <a:cxnLst/>
              <a:rect l="l" t="t" r="r" b="b"/>
              <a:pathLst>
                <a:path w="4288790" h="2725420">
                  <a:moveTo>
                    <a:pt x="0" y="0"/>
                  </a:moveTo>
                  <a:lnTo>
                    <a:pt x="4288535" y="0"/>
                  </a:lnTo>
                  <a:lnTo>
                    <a:pt x="4288535" y="2724912"/>
                  </a:lnTo>
                  <a:lnTo>
                    <a:pt x="0" y="27249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30752" y="3493010"/>
              <a:ext cx="3886200" cy="279784"/>
            </a:xfrm>
            <a:custGeom>
              <a:avLst/>
              <a:gdLst/>
              <a:ahLst/>
              <a:cxnLst/>
              <a:rect l="l" t="t" r="r" b="b"/>
              <a:pathLst>
                <a:path w="3886200" h="256539">
                  <a:moveTo>
                    <a:pt x="3843528" y="0"/>
                  </a:moveTo>
                  <a:lnTo>
                    <a:pt x="42672" y="0"/>
                  </a:lnTo>
                  <a:lnTo>
                    <a:pt x="26060" y="3352"/>
                  </a:lnTo>
                  <a:lnTo>
                    <a:pt x="12496" y="12496"/>
                  </a:lnTo>
                  <a:lnTo>
                    <a:pt x="3352" y="26060"/>
                  </a:lnTo>
                  <a:lnTo>
                    <a:pt x="0" y="42672"/>
                  </a:lnTo>
                  <a:lnTo>
                    <a:pt x="0" y="213360"/>
                  </a:lnTo>
                  <a:lnTo>
                    <a:pt x="3352" y="229966"/>
                  </a:lnTo>
                  <a:lnTo>
                    <a:pt x="12496" y="243530"/>
                  </a:lnTo>
                  <a:lnTo>
                    <a:pt x="26060" y="252677"/>
                  </a:lnTo>
                  <a:lnTo>
                    <a:pt x="42672" y="256032"/>
                  </a:lnTo>
                  <a:lnTo>
                    <a:pt x="3843528" y="256032"/>
                  </a:lnTo>
                  <a:lnTo>
                    <a:pt x="3860139" y="252677"/>
                  </a:lnTo>
                  <a:lnTo>
                    <a:pt x="3873703" y="243530"/>
                  </a:lnTo>
                  <a:lnTo>
                    <a:pt x="3882847" y="229966"/>
                  </a:lnTo>
                  <a:lnTo>
                    <a:pt x="3886200" y="213360"/>
                  </a:lnTo>
                  <a:lnTo>
                    <a:pt x="3886200" y="42672"/>
                  </a:lnTo>
                  <a:lnTo>
                    <a:pt x="3882847" y="26060"/>
                  </a:lnTo>
                  <a:lnTo>
                    <a:pt x="3873703" y="12496"/>
                  </a:lnTo>
                  <a:lnTo>
                    <a:pt x="3860139" y="3352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7671816" y="3493010"/>
            <a:ext cx="4288790" cy="279120"/>
          </a:xfrm>
          <a:custGeom>
            <a:avLst/>
            <a:gdLst/>
            <a:ahLst/>
            <a:cxnLst/>
            <a:rect l="l" t="t" r="r" b="b"/>
            <a:pathLst>
              <a:path w="4288790" h="256539">
                <a:moveTo>
                  <a:pt x="4245864" y="0"/>
                </a:moveTo>
                <a:lnTo>
                  <a:pt x="42672" y="0"/>
                </a:lnTo>
                <a:lnTo>
                  <a:pt x="26060" y="3352"/>
                </a:lnTo>
                <a:lnTo>
                  <a:pt x="12496" y="12496"/>
                </a:lnTo>
                <a:lnTo>
                  <a:pt x="3352" y="26060"/>
                </a:lnTo>
                <a:lnTo>
                  <a:pt x="0" y="42672"/>
                </a:lnTo>
                <a:lnTo>
                  <a:pt x="0" y="213360"/>
                </a:lnTo>
                <a:lnTo>
                  <a:pt x="3352" y="229966"/>
                </a:lnTo>
                <a:lnTo>
                  <a:pt x="12496" y="243530"/>
                </a:lnTo>
                <a:lnTo>
                  <a:pt x="26060" y="252677"/>
                </a:lnTo>
                <a:lnTo>
                  <a:pt x="42672" y="256032"/>
                </a:lnTo>
                <a:lnTo>
                  <a:pt x="4245864" y="256032"/>
                </a:lnTo>
                <a:lnTo>
                  <a:pt x="4262475" y="252677"/>
                </a:lnTo>
                <a:lnTo>
                  <a:pt x="4276039" y="243530"/>
                </a:lnTo>
                <a:lnTo>
                  <a:pt x="4285183" y="229966"/>
                </a:lnTo>
                <a:lnTo>
                  <a:pt x="4288536" y="213360"/>
                </a:lnTo>
                <a:lnTo>
                  <a:pt x="4288536" y="42672"/>
                </a:lnTo>
                <a:lnTo>
                  <a:pt x="4285183" y="26060"/>
                </a:lnTo>
                <a:lnTo>
                  <a:pt x="4276039" y="12496"/>
                </a:lnTo>
                <a:lnTo>
                  <a:pt x="4262475" y="3352"/>
                </a:lnTo>
                <a:lnTo>
                  <a:pt x="4245864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>
            <a:pPr algn="ctr"/>
            <a:r>
              <a:rPr lang="en-IN" sz="1600" b="1" dirty="0">
                <a:latin typeface="Aptos"/>
              </a:rPr>
              <a:t>Management Projections &amp; Scenarios</a:t>
            </a:r>
            <a:endParaRPr lang="en-IN" sz="3200" b="1" dirty="0">
              <a:latin typeface="Aptos"/>
              <a:cs typeface="Aptos"/>
            </a:endParaRPr>
          </a:p>
          <a:p>
            <a:pPr algn="ctr"/>
            <a:endParaRPr sz="1600" dirty="0"/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7794936" y="5350364"/>
          <a:ext cx="4221735" cy="1064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9228"/>
                <a:gridCol w="882860"/>
                <a:gridCol w="940162"/>
                <a:gridCol w="959485"/>
              </a:tblGrid>
              <a:tr h="18859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10" dirty="0">
                          <a:solidFill>
                            <a:srgbClr val="1F2937"/>
                          </a:solidFill>
                          <a:latin typeface="Aptos"/>
                          <a:cs typeface="Aptos"/>
                        </a:rPr>
                        <a:t>Scenario</a:t>
                      </a:r>
                      <a:endParaRPr sz="1200">
                        <a:latin typeface="Aptos"/>
                        <a:cs typeface="Aptos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20" dirty="0">
                          <a:solidFill>
                            <a:srgbClr val="1F2937"/>
                          </a:solidFill>
                          <a:latin typeface="Aptos"/>
                          <a:cs typeface="Aptos"/>
                        </a:rPr>
                        <a:t>Bear</a:t>
                      </a:r>
                      <a:endParaRPr sz="1200">
                        <a:latin typeface="Aptos"/>
                        <a:cs typeface="Aptos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20" dirty="0">
                          <a:solidFill>
                            <a:srgbClr val="1F2937"/>
                          </a:solidFill>
                          <a:latin typeface="Aptos"/>
                          <a:cs typeface="Aptos"/>
                        </a:rPr>
                        <a:t>Base</a:t>
                      </a:r>
                      <a:endParaRPr sz="1200">
                        <a:latin typeface="Aptos"/>
                        <a:cs typeface="Aptos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20" dirty="0">
                          <a:solidFill>
                            <a:srgbClr val="1F2937"/>
                          </a:solidFill>
                          <a:latin typeface="Aptos"/>
                          <a:cs typeface="Aptos"/>
                        </a:rPr>
                        <a:t>Bull</a:t>
                      </a:r>
                      <a:endParaRPr sz="1200">
                        <a:latin typeface="Aptos"/>
                        <a:cs typeface="Aptos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</a:tr>
              <a:tr h="17525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525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525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525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525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100" dirty="0">
                        <a:latin typeface="Aptos"/>
                        <a:cs typeface="Apto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3" name="object 53"/>
          <p:cNvSpPr/>
          <p:nvPr/>
        </p:nvSpPr>
        <p:spPr>
          <a:xfrm>
            <a:off x="109728" y="6622520"/>
            <a:ext cx="11851005" cy="0"/>
          </a:xfrm>
          <a:custGeom>
            <a:avLst/>
            <a:gdLst/>
            <a:ahLst/>
            <a:cxnLst/>
            <a:rect l="l" t="t" r="r" b="b"/>
            <a:pathLst>
              <a:path w="11851005">
                <a:moveTo>
                  <a:pt x="0" y="0"/>
                </a:moveTo>
                <a:lnTo>
                  <a:pt x="11850624" y="0"/>
                </a:lnTo>
              </a:path>
            </a:pathLst>
          </a:custGeom>
          <a:ln w="12700">
            <a:solidFill>
              <a:srgbClr val="E8E4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9982201" y="6649171"/>
            <a:ext cx="183464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06 | </a:t>
            </a:r>
            <a:r>
              <a:rPr lang="en-US" sz="900" dirty="0">
                <a:latin typeface="Aptos"/>
              </a:rPr>
              <a:t>COMPANY NAME</a:t>
            </a:r>
            <a:r>
              <a:rPr sz="900" dirty="0">
                <a:latin typeface="Aptos"/>
              </a:rPr>
              <a:t> 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56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04882" y="34720"/>
            <a:ext cx="1619401" cy="696796"/>
          </a:xfrm>
          <a:prstGeom prst="rect">
            <a:avLst/>
          </a:prstGeom>
        </p:spPr>
      </p:pic>
      <p:sp>
        <p:nvSpPr>
          <p:cNvPr id="58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4"/>
            <a:ext cx="2626155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CO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  <p:sp>
        <p:nvSpPr>
          <p:cNvPr id="59" name="object 15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Rectangle 1"/>
          <p:cNvSpPr/>
          <p:nvPr/>
        </p:nvSpPr>
        <p:spPr>
          <a:xfrm>
            <a:off x="161736" y="3771263"/>
            <a:ext cx="3480429" cy="28206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387" y="394440"/>
            <a:ext cx="17995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ptos"/>
              </a:rPr>
              <a:t>07 · LATEST COMPANY UPDATE</a:t>
            </a:r>
            <a:endParaRPr sz="1000" dirty="0">
              <a:latin typeface="Aptos"/>
              <a:cs typeface="Apto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4495" y="1149183"/>
            <a:ext cx="10274456" cy="3825192"/>
            <a:chOff x="298143" y="823008"/>
            <a:chExt cx="11576685" cy="5801995"/>
          </a:xfrm>
        </p:grpSpPr>
        <p:sp>
          <p:nvSpPr>
            <p:cNvPr id="7" name="object 7"/>
            <p:cNvSpPr/>
            <p:nvPr/>
          </p:nvSpPr>
          <p:spPr>
            <a:xfrm>
              <a:off x="304493" y="829358"/>
              <a:ext cx="11563985" cy="5789295"/>
            </a:xfrm>
            <a:custGeom>
              <a:avLst/>
              <a:gdLst/>
              <a:ahLst/>
              <a:cxnLst/>
              <a:rect l="l" t="t" r="r" b="b"/>
              <a:pathLst>
                <a:path w="11563985" h="5789295">
                  <a:moveTo>
                    <a:pt x="11503253" y="0"/>
                  </a:moveTo>
                  <a:lnTo>
                    <a:pt x="60553" y="0"/>
                  </a:lnTo>
                  <a:lnTo>
                    <a:pt x="36984" y="4759"/>
                  </a:lnTo>
                  <a:lnTo>
                    <a:pt x="17737" y="17737"/>
                  </a:lnTo>
                  <a:lnTo>
                    <a:pt x="4759" y="36984"/>
                  </a:lnTo>
                  <a:lnTo>
                    <a:pt x="0" y="60553"/>
                  </a:lnTo>
                  <a:lnTo>
                    <a:pt x="0" y="5728601"/>
                  </a:lnTo>
                  <a:lnTo>
                    <a:pt x="4759" y="5752170"/>
                  </a:lnTo>
                  <a:lnTo>
                    <a:pt x="17737" y="5771418"/>
                  </a:lnTo>
                  <a:lnTo>
                    <a:pt x="36984" y="5784396"/>
                  </a:lnTo>
                  <a:lnTo>
                    <a:pt x="60553" y="5789155"/>
                  </a:lnTo>
                  <a:lnTo>
                    <a:pt x="11503253" y="5789155"/>
                  </a:lnTo>
                  <a:lnTo>
                    <a:pt x="11526822" y="5784396"/>
                  </a:lnTo>
                  <a:lnTo>
                    <a:pt x="11546070" y="5771418"/>
                  </a:lnTo>
                  <a:lnTo>
                    <a:pt x="11559048" y="5752170"/>
                  </a:lnTo>
                  <a:lnTo>
                    <a:pt x="11563807" y="5728601"/>
                  </a:lnTo>
                  <a:lnTo>
                    <a:pt x="11563807" y="60553"/>
                  </a:lnTo>
                  <a:lnTo>
                    <a:pt x="11559048" y="36984"/>
                  </a:lnTo>
                  <a:lnTo>
                    <a:pt x="11546070" y="17737"/>
                  </a:lnTo>
                  <a:lnTo>
                    <a:pt x="11526822" y="4759"/>
                  </a:lnTo>
                  <a:lnTo>
                    <a:pt x="115032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4493" y="829358"/>
              <a:ext cx="11563985" cy="5789295"/>
            </a:xfrm>
            <a:custGeom>
              <a:avLst/>
              <a:gdLst/>
              <a:ahLst/>
              <a:cxnLst/>
              <a:rect l="l" t="t" r="r" b="b"/>
              <a:pathLst>
                <a:path w="11563985" h="5789295">
                  <a:moveTo>
                    <a:pt x="0" y="60553"/>
                  </a:moveTo>
                  <a:lnTo>
                    <a:pt x="4759" y="36984"/>
                  </a:lnTo>
                  <a:lnTo>
                    <a:pt x="17737" y="17737"/>
                  </a:lnTo>
                  <a:lnTo>
                    <a:pt x="36984" y="4759"/>
                  </a:lnTo>
                  <a:lnTo>
                    <a:pt x="60553" y="0"/>
                  </a:lnTo>
                  <a:lnTo>
                    <a:pt x="11503253" y="0"/>
                  </a:lnTo>
                  <a:lnTo>
                    <a:pt x="11526822" y="4759"/>
                  </a:lnTo>
                  <a:lnTo>
                    <a:pt x="11546070" y="17737"/>
                  </a:lnTo>
                  <a:lnTo>
                    <a:pt x="11559048" y="36984"/>
                  </a:lnTo>
                  <a:lnTo>
                    <a:pt x="11563807" y="60553"/>
                  </a:lnTo>
                  <a:lnTo>
                    <a:pt x="11563807" y="5728601"/>
                  </a:lnTo>
                  <a:lnTo>
                    <a:pt x="11559048" y="5752170"/>
                  </a:lnTo>
                  <a:lnTo>
                    <a:pt x="11546070" y="5771418"/>
                  </a:lnTo>
                  <a:lnTo>
                    <a:pt x="11526822" y="5784396"/>
                  </a:lnTo>
                  <a:lnTo>
                    <a:pt x="11503253" y="5789155"/>
                  </a:lnTo>
                  <a:lnTo>
                    <a:pt x="60553" y="5789155"/>
                  </a:lnTo>
                  <a:lnTo>
                    <a:pt x="36984" y="5784396"/>
                  </a:lnTo>
                  <a:lnTo>
                    <a:pt x="17737" y="5771418"/>
                  </a:lnTo>
                  <a:lnTo>
                    <a:pt x="4759" y="5752170"/>
                  </a:lnTo>
                  <a:lnTo>
                    <a:pt x="0" y="5728601"/>
                  </a:lnTo>
                  <a:lnTo>
                    <a:pt x="0" y="60553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82200" y="6655925"/>
            <a:ext cx="200473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07 | C</a:t>
            </a:r>
            <a:r>
              <a:rPr lang="en-US" sz="900" dirty="0">
                <a:latin typeface="Aptos"/>
              </a:rPr>
              <a:t>OMPAN</a:t>
            </a:r>
            <a:r>
              <a:rPr sz="900" dirty="0">
                <a:latin typeface="Aptos"/>
              </a:rPr>
              <a:t>Y </a:t>
            </a:r>
            <a:r>
              <a:rPr lang="en-US" sz="900" dirty="0">
                <a:latin typeface="Aptos"/>
              </a:rPr>
              <a:t>NAME</a:t>
            </a:r>
            <a:r>
              <a:rPr sz="900" dirty="0">
                <a:latin typeface="Aptos"/>
              </a:rPr>
              <a:t>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14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72599" y="53076"/>
            <a:ext cx="1619401" cy="696796"/>
          </a:xfrm>
          <a:prstGeom prst="rect">
            <a:avLst/>
          </a:prstGeom>
        </p:spPr>
      </p:pic>
      <p:sp>
        <p:nvSpPr>
          <p:cNvPr id="15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4"/>
            <a:ext cx="2571420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  <p:sp>
        <p:nvSpPr>
          <p:cNvPr id="16" name="object 3"/>
          <p:cNvSpPr/>
          <p:nvPr/>
        </p:nvSpPr>
        <p:spPr>
          <a:xfrm>
            <a:off x="304495" y="1133750"/>
            <a:ext cx="10303578" cy="334010"/>
          </a:xfrm>
          <a:custGeom>
            <a:avLst/>
            <a:gdLst/>
            <a:ahLst/>
            <a:cxnLst/>
            <a:rect l="l" t="t" r="r" b="b"/>
            <a:pathLst>
              <a:path w="11544935" h="334009">
                <a:moveTo>
                  <a:pt x="11488978" y="0"/>
                </a:moveTo>
                <a:lnTo>
                  <a:pt x="55626" y="0"/>
                </a:lnTo>
                <a:lnTo>
                  <a:pt x="33973" y="4371"/>
                </a:lnTo>
                <a:lnTo>
                  <a:pt x="16292" y="16292"/>
                </a:lnTo>
                <a:lnTo>
                  <a:pt x="4371" y="33973"/>
                </a:lnTo>
                <a:lnTo>
                  <a:pt x="0" y="55625"/>
                </a:lnTo>
                <a:lnTo>
                  <a:pt x="0" y="278129"/>
                </a:lnTo>
                <a:lnTo>
                  <a:pt x="4371" y="299782"/>
                </a:lnTo>
                <a:lnTo>
                  <a:pt x="16292" y="317463"/>
                </a:lnTo>
                <a:lnTo>
                  <a:pt x="33973" y="329384"/>
                </a:lnTo>
                <a:lnTo>
                  <a:pt x="55626" y="333755"/>
                </a:lnTo>
                <a:lnTo>
                  <a:pt x="11488978" y="333755"/>
                </a:lnTo>
                <a:lnTo>
                  <a:pt x="11510630" y="329384"/>
                </a:lnTo>
                <a:lnTo>
                  <a:pt x="11528312" y="317463"/>
                </a:lnTo>
                <a:lnTo>
                  <a:pt x="11540233" y="299782"/>
                </a:lnTo>
                <a:lnTo>
                  <a:pt x="11544604" y="278129"/>
                </a:lnTo>
                <a:lnTo>
                  <a:pt x="11544604" y="55625"/>
                </a:lnTo>
                <a:lnTo>
                  <a:pt x="11540233" y="33973"/>
                </a:lnTo>
                <a:lnTo>
                  <a:pt x="11528312" y="16292"/>
                </a:lnTo>
                <a:lnTo>
                  <a:pt x="11510630" y="4371"/>
                </a:lnTo>
                <a:lnTo>
                  <a:pt x="1148897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9259" y="578813"/>
            <a:ext cx="5120941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Aptos"/>
              </a:rPr>
              <a:t>Summary of FY26 / Jul-2026 Update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4829" y="1116089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Updates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0"/>
            <a:ext cx="96520" cy="6858000"/>
          </a:xfrm>
          <a:custGeom>
            <a:avLst/>
            <a:gdLst/>
            <a:ahLst/>
            <a:cxnLst/>
            <a:rect l="l" t="t" r="r" b="b"/>
            <a:pathLst>
              <a:path w="96520" h="6858000">
                <a:moveTo>
                  <a:pt x="96012" y="0"/>
                </a:moveTo>
                <a:lnTo>
                  <a:pt x="0" y="0"/>
                </a:lnTo>
                <a:lnTo>
                  <a:pt x="0" y="6858000"/>
                </a:lnTo>
                <a:lnTo>
                  <a:pt x="96012" y="6858000"/>
                </a:lnTo>
                <a:lnTo>
                  <a:pt x="96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30200" y="290423"/>
            <a:ext cx="1585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>
                <a:latin typeface="Aptos"/>
              </a:rPr>
              <a:t>08 · DILIGENCE AGENDA</a:t>
            </a:r>
            <a:endParaRPr sz="900">
              <a:latin typeface="Aptos"/>
              <a:cs typeface="Aptos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302370" y="488238"/>
            <a:ext cx="632702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ptos"/>
              </a:defRPr>
            </a:pPr>
            <a:r>
              <a:t>Questions to Management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298145" y="972922"/>
            <a:ext cx="5760085" cy="5529580"/>
            <a:chOff x="298145" y="972922"/>
            <a:chExt cx="5760085" cy="5529580"/>
          </a:xfrm>
        </p:grpSpPr>
        <p:sp>
          <p:nvSpPr>
            <p:cNvPr id="3" name="object 3"/>
            <p:cNvSpPr/>
            <p:nvPr/>
          </p:nvSpPr>
          <p:spPr>
            <a:xfrm>
              <a:off x="304495" y="990300"/>
              <a:ext cx="5734685" cy="5506085"/>
            </a:xfrm>
            <a:custGeom>
              <a:avLst/>
              <a:gdLst/>
              <a:ahLst/>
              <a:cxnLst/>
              <a:rect l="l" t="t" r="r" b="b"/>
              <a:pathLst>
                <a:path w="5734685" h="5506085">
                  <a:moveTo>
                    <a:pt x="5676620" y="0"/>
                  </a:moveTo>
                  <a:lnTo>
                    <a:pt x="57581" y="0"/>
                  </a:lnTo>
                  <a:lnTo>
                    <a:pt x="35168" y="4525"/>
                  </a:lnTo>
                  <a:lnTo>
                    <a:pt x="16865" y="16865"/>
                  </a:lnTo>
                  <a:lnTo>
                    <a:pt x="4525" y="35168"/>
                  </a:lnTo>
                  <a:lnTo>
                    <a:pt x="0" y="57581"/>
                  </a:lnTo>
                  <a:lnTo>
                    <a:pt x="0" y="5448007"/>
                  </a:lnTo>
                  <a:lnTo>
                    <a:pt x="4525" y="5470423"/>
                  </a:lnTo>
                  <a:lnTo>
                    <a:pt x="16865" y="5488730"/>
                  </a:lnTo>
                  <a:lnTo>
                    <a:pt x="35168" y="5501075"/>
                  </a:lnTo>
                  <a:lnTo>
                    <a:pt x="57581" y="5505602"/>
                  </a:lnTo>
                  <a:lnTo>
                    <a:pt x="5676620" y="5505602"/>
                  </a:lnTo>
                  <a:lnTo>
                    <a:pt x="5699033" y="5501075"/>
                  </a:lnTo>
                  <a:lnTo>
                    <a:pt x="5717336" y="5488730"/>
                  </a:lnTo>
                  <a:lnTo>
                    <a:pt x="5729677" y="5470423"/>
                  </a:lnTo>
                  <a:lnTo>
                    <a:pt x="5734202" y="5448007"/>
                  </a:lnTo>
                  <a:lnTo>
                    <a:pt x="5734202" y="57581"/>
                  </a:lnTo>
                  <a:lnTo>
                    <a:pt x="5729677" y="35168"/>
                  </a:lnTo>
                  <a:lnTo>
                    <a:pt x="5717336" y="16865"/>
                  </a:lnTo>
                  <a:lnTo>
                    <a:pt x="5699033" y="4525"/>
                  </a:lnTo>
                  <a:lnTo>
                    <a:pt x="5676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4495" y="990300"/>
              <a:ext cx="5734685" cy="5506085"/>
            </a:xfrm>
            <a:custGeom>
              <a:avLst/>
              <a:gdLst/>
              <a:ahLst/>
              <a:cxnLst/>
              <a:rect l="l" t="t" r="r" b="b"/>
              <a:pathLst>
                <a:path w="5734685" h="5506085">
                  <a:moveTo>
                    <a:pt x="0" y="57581"/>
                  </a:moveTo>
                  <a:lnTo>
                    <a:pt x="4525" y="35168"/>
                  </a:lnTo>
                  <a:lnTo>
                    <a:pt x="16865" y="16865"/>
                  </a:lnTo>
                  <a:lnTo>
                    <a:pt x="35168" y="4525"/>
                  </a:lnTo>
                  <a:lnTo>
                    <a:pt x="57581" y="0"/>
                  </a:lnTo>
                  <a:lnTo>
                    <a:pt x="5676620" y="0"/>
                  </a:lnTo>
                  <a:lnTo>
                    <a:pt x="5699033" y="4525"/>
                  </a:lnTo>
                  <a:lnTo>
                    <a:pt x="5717336" y="16865"/>
                  </a:lnTo>
                  <a:lnTo>
                    <a:pt x="5729677" y="35168"/>
                  </a:lnTo>
                  <a:lnTo>
                    <a:pt x="5734202" y="57581"/>
                  </a:lnTo>
                  <a:lnTo>
                    <a:pt x="5734202" y="5448007"/>
                  </a:lnTo>
                  <a:lnTo>
                    <a:pt x="5729677" y="5470423"/>
                  </a:lnTo>
                  <a:lnTo>
                    <a:pt x="5717336" y="5488730"/>
                  </a:lnTo>
                  <a:lnTo>
                    <a:pt x="5699033" y="5501075"/>
                  </a:lnTo>
                  <a:lnTo>
                    <a:pt x="5676620" y="5505602"/>
                  </a:lnTo>
                  <a:lnTo>
                    <a:pt x="57581" y="5505602"/>
                  </a:lnTo>
                  <a:lnTo>
                    <a:pt x="35168" y="5501075"/>
                  </a:lnTo>
                  <a:lnTo>
                    <a:pt x="16865" y="5488730"/>
                  </a:lnTo>
                  <a:lnTo>
                    <a:pt x="4525" y="5470423"/>
                  </a:lnTo>
                  <a:lnTo>
                    <a:pt x="0" y="5448007"/>
                  </a:lnTo>
                  <a:lnTo>
                    <a:pt x="0" y="57581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4495" y="972922"/>
              <a:ext cx="5753735" cy="342265"/>
            </a:xfrm>
            <a:custGeom>
              <a:avLst/>
              <a:gdLst/>
              <a:ahLst/>
              <a:cxnLst/>
              <a:rect l="l" t="t" r="r" b="b"/>
              <a:pathLst>
                <a:path w="5753735" h="342265">
                  <a:moveTo>
                    <a:pt x="5714288" y="0"/>
                  </a:moveTo>
                  <a:lnTo>
                    <a:pt x="39116" y="0"/>
                  </a:lnTo>
                  <a:lnTo>
                    <a:pt x="23890" y="3073"/>
                  </a:lnTo>
                  <a:lnTo>
                    <a:pt x="11456" y="11456"/>
                  </a:lnTo>
                  <a:lnTo>
                    <a:pt x="3073" y="23890"/>
                  </a:lnTo>
                  <a:lnTo>
                    <a:pt x="0" y="39115"/>
                  </a:lnTo>
                  <a:lnTo>
                    <a:pt x="0" y="302869"/>
                  </a:lnTo>
                  <a:lnTo>
                    <a:pt x="3073" y="318095"/>
                  </a:lnTo>
                  <a:lnTo>
                    <a:pt x="11456" y="330528"/>
                  </a:lnTo>
                  <a:lnTo>
                    <a:pt x="23890" y="338911"/>
                  </a:lnTo>
                  <a:lnTo>
                    <a:pt x="39116" y="341985"/>
                  </a:lnTo>
                  <a:lnTo>
                    <a:pt x="5714288" y="341985"/>
                  </a:lnTo>
                  <a:lnTo>
                    <a:pt x="5729514" y="338911"/>
                  </a:lnTo>
                  <a:lnTo>
                    <a:pt x="5741947" y="330528"/>
                  </a:lnTo>
                  <a:lnTo>
                    <a:pt x="5750330" y="318095"/>
                  </a:lnTo>
                  <a:lnTo>
                    <a:pt x="5753404" y="302869"/>
                  </a:lnTo>
                  <a:lnTo>
                    <a:pt x="5753404" y="39115"/>
                  </a:lnTo>
                  <a:lnTo>
                    <a:pt x="5750330" y="23890"/>
                  </a:lnTo>
                  <a:lnTo>
                    <a:pt x="5741947" y="11456"/>
                  </a:lnTo>
                  <a:lnTo>
                    <a:pt x="5729514" y="3073"/>
                  </a:lnTo>
                  <a:lnTo>
                    <a:pt x="5714288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2927" y="1031612"/>
            <a:ext cx="54178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Aptos"/>
              </a:defRPr>
            </a:pPr>
            <a:r>
              <a:t>Questions to Management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109157" y="983942"/>
            <a:ext cx="5822950" cy="3746500"/>
            <a:chOff x="6109157" y="983942"/>
            <a:chExt cx="5822950" cy="3746500"/>
          </a:xfrm>
        </p:grpSpPr>
        <p:sp>
          <p:nvSpPr>
            <p:cNvPr id="7" name="object 7"/>
            <p:cNvSpPr/>
            <p:nvPr/>
          </p:nvSpPr>
          <p:spPr>
            <a:xfrm>
              <a:off x="6115507" y="990292"/>
              <a:ext cx="5810250" cy="3733800"/>
            </a:xfrm>
            <a:custGeom>
              <a:avLst/>
              <a:gdLst/>
              <a:ahLst/>
              <a:cxnLst/>
              <a:rect l="l" t="t" r="r" b="b"/>
              <a:pathLst>
                <a:path w="5810250" h="3733800">
                  <a:moveTo>
                    <a:pt x="5752490" y="0"/>
                  </a:moveTo>
                  <a:lnTo>
                    <a:pt x="57607" y="0"/>
                  </a:lnTo>
                  <a:lnTo>
                    <a:pt x="35184" y="4527"/>
                  </a:lnTo>
                  <a:lnTo>
                    <a:pt x="16873" y="16873"/>
                  </a:lnTo>
                  <a:lnTo>
                    <a:pt x="4527" y="35184"/>
                  </a:lnTo>
                  <a:lnTo>
                    <a:pt x="0" y="57607"/>
                  </a:lnTo>
                  <a:lnTo>
                    <a:pt x="0" y="3675888"/>
                  </a:lnTo>
                  <a:lnTo>
                    <a:pt x="4527" y="3698310"/>
                  </a:lnTo>
                  <a:lnTo>
                    <a:pt x="16873" y="3716621"/>
                  </a:lnTo>
                  <a:lnTo>
                    <a:pt x="35184" y="3728967"/>
                  </a:lnTo>
                  <a:lnTo>
                    <a:pt x="57607" y="3733495"/>
                  </a:lnTo>
                  <a:lnTo>
                    <a:pt x="5752490" y="3733495"/>
                  </a:lnTo>
                  <a:lnTo>
                    <a:pt x="5774912" y="3728967"/>
                  </a:lnTo>
                  <a:lnTo>
                    <a:pt x="5793224" y="3716621"/>
                  </a:lnTo>
                  <a:lnTo>
                    <a:pt x="5805570" y="3698310"/>
                  </a:lnTo>
                  <a:lnTo>
                    <a:pt x="5810097" y="3675888"/>
                  </a:lnTo>
                  <a:lnTo>
                    <a:pt x="5810097" y="57607"/>
                  </a:lnTo>
                  <a:lnTo>
                    <a:pt x="5805570" y="35184"/>
                  </a:lnTo>
                  <a:lnTo>
                    <a:pt x="5793224" y="16873"/>
                  </a:lnTo>
                  <a:lnTo>
                    <a:pt x="5774912" y="4527"/>
                  </a:lnTo>
                  <a:lnTo>
                    <a:pt x="5752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15507" y="990292"/>
              <a:ext cx="5810250" cy="3733800"/>
            </a:xfrm>
            <a:custGeom>
              <a:avLst/>
              <a:gdLst/>
              <a:ahLst/>
              <a:cxnLst/>
              <a:rect l="l" t="t" r="r" b="b"/>
              <a:pathLst>
                <a:path w="5810250" h="3733800">
                  <a:moveTo>
                    <a:pt x="0" y="57607"/>
                  </a:moveTo>
                  <a:lnTo>
                    <a:pt x="4527" y="35184"/>
                  </a:lnTo>
                  <a:lnTo>
                    <a:pt x="16873" y="16873"/>
                  </a:lnTo>
                  <a:lnTo>
                    <a:pt x="35184" y="4527"/>
                  </a:lnTo>
                  <a:lnTo>
                    <a:pt x="57607" y="0"/>
                  </a:lnTo>
                  <a:lnTo>
                    <a:pt x="5752490" y="0"/>
                  </a:lnTo>
                  <a:lnTo>
                    <a:pt x="5774912" y="4527"/>
                  </a:lnTo>
                  <a:lnTo>
                    <a:pt x="5793224" y="16873"/>
                  </a:lnTo>
                  <a:lnTo>
                    <a:pt x="5805570" y="35184"/>
                  </a:lnTo>
                  <a:lnTo>
                    <a:pt x="5810097" y="57607"/>
                  </a:lnTo>
                  <a:lnTo>
                    <a:pt x="5810097" y="3675888"/>
                  </a:lnTo>
                  <a:lnTo>
                    <a:pt x="5805570" y="3698310"/>
                  </a:lnTo>
                  <a:lnTo>
                    <a:pt x="5793224" y="3716621"/>
                  </a:lnTo>
                  <a:lnTo>
                    <a:pt x="5774912" y="3728967"/>
                  </a:lnTo>
                  <a:lnTo>
                    <a:pt x="5752490" y="3733495"/>
                  </a:lnTo>
                  <a:lnTo>
                    <a:pt x="57607" y="3733495"/>
                  </a:lnTo>
                  <a:lnTo>
                    <a:pt x="35184" y="3728967"/>
                  </a:lnTo>
                  <a:lnTo>
                    <a:pt x="16873" y="3716621"/>
                  </a:lnTo>
                  <a:lnTo>
                    <a:pt x="4527" y="3698310"/>
                  </a:lnTo>
                  <a:lnTo>
                    <a:pt x="0" y="3675888"/>
                  </a:lnTo>
                  <a:lnTo>
                    <a:pt x="0" y="57607"/>
                  </a:lnTo>
                  <a:close/>
                </a:path>
              </a:pathLst>
            </a:custGeom>
            <a:ln w="12700">
              <a:solidFill>
                <a:srgbClr val="D6D3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15507" y="1000235"/>
              <a:ext cx="5810250" cy="314325"/>
            </a:xfrm>
            <a:custGeom>
              <a:avLst/>
              <a:gdLst/>
              <a:ahLst/>
              <a:cxnLst/>
              <a:rect l="l" t="t" r="r" b="b"/>
              <a:pathLst>
                <a:path w="5810250" h="314325">
                  <a:moveTo>
                    <a:pt x="5774207" y="0"/>
                  </a:moveTo>
                  <a:lnTo>
                    <a:pt x="35890" y="0"/>
                  </a:lnTo>
                  <a:lnTo>
                    <a:pt x="21918" y="2819"/>
                  </a:lnTo>
                  <a:lnTo>
                    <a:pt x="10510" y="10510"/>
                  </a:lnTo>
                  <a:lnTo>
                    <a:pt x="2819" y="21918"/>
                  </a:lnTo>
                  <a:lnTo>
                    <a:pt x="0" y="35890"/>
                  </a:lnTo>
                  <a:lnTo>
                    <a:pt x="0" y="277863"/>
                  </a:lnTo>
                  <a:lnTo>
                    <a:pt x="2819" y="291834"/>
                  </a:lnTo>
                  <a:lnTo>
                    <a:pt x="10510" y="303242"/>
                  </a:lnTo>
                  <a:lnTo>
                    <a:pt x="21918" y="310933"/>
                  </a:lnTo>
                  <a:lnTo>
                    <a:pt x="35890" y="313753"/>
                  </a:lnTo>
                  <a:lnTo>
                    <a:pt x="5774207" y="313753"/>
                  </a:lnTo>
                  <a:lnTo>
                    <a:pt x="5788178" y="310933"/>
                  </a:lnTo>
                  <a:lnTo>
                    <a:pt x="5799586" y="303242"/>
                  </a:lnTo>
                  <a:lnTo>
                    <a:pt x="5807277" y="291834"/>
                  </a:lnTo>
                  <a:lnTo>
                    <a:pt x="5810097" y="277863"/>
                  </a:lnTo>
                  <a:lnTo>
                    <a:pt x="5810097" y="35890"/>
                  </a:lnTo>
                  <a:lnTo>
                    <a:pt x="5807277" y="21918"/>
                  </a:lnTo>
                  <a:lnTo>
                    <a:pt x="5799586" y="10510"/>
                  </a:lnTo>
                  <a:lnTo>
                    <a:pt x="5788178" y="2819"/>
                  </a:lnTo>
                  <a:lnTo>
                    <a:pt x="5774207" y="0"/>
                  </a:lnTo>
                  <a:close/>
                </a:path>
              </a:pathLst>
            </a:custGeom>
            <a:solidFill>
              <a:srgbClr val="F5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115507" y="1039001"/>
            <a:ext cx="581025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defRPr sz="1300" b="1">
                <a:solidFill>
                  <a:srgbClr val="1E293B"/>
                </a:solidFill>
                <a:latin typeface="Aptos"/>
              </a:defRPr>
            </a:pPr>
            <a:r>
              <a:t>Risk Factors &amp; Watch Items</a:t>
            </a:r>
            <a:endParaRPr sz="2800" b="1" dirty="0">
              <a:latin typeface="Aptos"/>
              <a:cs typeface="Apto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15507" y="4819807"/>
            <a:ext cx="5791200" cy="1163320"/>
          </a:xfrm>
          <a:custGeom>
            <a:avLst/>
            <a:gdLst/>
            <a:ahLst/>
            <a:cxnLst/>
            <a:rect l="l" t="t" r="r" b="b"/>
            <a:pathLst>
              <a:path w="5791200" h="1163320">
                <a:moveTo>
                  <a:pt x="5750471" y="0"/>
                </a:moveTo>
                <a:lnTo>
                  <a:pt x="40411" y="0"/>
                </a:lnTo>
                <a:lnTo>
                  <a:pt x="24683" y="3174"/>
                </a:lnTo>
                <a:lnTo>
                  <a:pt x="11837" y="11833"/>
                </a:lnTo>
                <a:lnTo>
                  <a:pt x="3176" y="24678"/>
                </a:lnTo>
                <a:lnTo>
                  <a:pt x="0" y="40411"/>
                </a:lnTo>
                <a:lnTo>
                  <a:pt x="0" y="1122692"/>
                </a:lnTo>
                <a:lnTo>
                  <a:pt x="3176" y="1138427"/>
                </a:lnTo>
                <a:lnTo>
                  <a:pt x="11837" y="1151277"/>
                </a:lnTo>
                <a:lnTo>
                  <a:pt x="24683" y="1159940"/>
                </a:lnTo>
                <a:lnTo>
                  <a:pt x="40411" y="1163116"/>
                </a:lnTo>
                <a:lnTo>
                  <a:pt x="5750471" y="1163116"/>
                </a:lnTo>
                <a:lnTo>
                  <a:pt x="5766206" y="1159940"/>
                </a:lnTo>
                <a:lnTo>
                  <a:pt x="5779055" y="1151277"/>
                </a:lnTo>
                <a:lnTo>
                  <a:pt x="5787718" y="1138427"/>
                </a:lnTo>
                <a:lnTo>
                  <a:pt x="5790895" y="1122692"/>
                </a:lnTo>
                <a:lnTo>
                  <a:pt x="5790895" y="40411"/>
                </a:lnTo>
                <a:lnTo>
                  <a:pt x="5787718" y="24678"/>
                </a:lnTo>
                <a:lnTo>
                  <a:pt x="5779055" y="11833"/>
                </a:lnTo>
                <a:lnTo>
                  <a:pt x="5766206" y="3174"/>
                </a:lnTo>
                <a:lnTo>
                  <a:pt x="5750471" y="0"/>
                </a:lnTo>
                <a:close/>
              </a:path>
            </a:pathLst>
          </a:custGeom>
          <a:solidFill>
            <a:srgbClr val="1118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4495" y="668700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4">
                <a:moveTo>
                  <a:pt x="28803" y="0"/>
                </a:moveTo>
                <a:lnTo>
                  <a:pt x="17589" y="2262"/>
                </a:lnTo>
                <a:lnTo>
                  <a:pt x="8434" y="8434"/>
                </a:lnTo>
                <a:lnTo>
                  <a:pt x="2262" y="17589"/>
                </a:lnTo>
                <a:lnTo>
                  <a:pt x="0" y="28803"/>
                </a:lnTo>
                <a:lnTo>
                  <a:pt x="2262" y="40017"/>
                </a:lnTo>
                <a:lnTo>
                  <a:pt x="8434" y="49172"/>
                </a:lnTo>
                <a:lnTo>
                  <a:pt x="17589" y="55344"/>
                </a:lnTo>
                <a:lnTo>
                  <a:pt x="28803" y="57607"/>
                </a:lnTo>
                <a:lnTo>
                  <a:pt x="40017" y="55344"/>
                </a:lnTo>
                <a:lnTo>
                  <a:pt x="49172" y="49172"/>
                </a:lnTo>
                <a:lnTo>
                  <a:pt x="55344" y="40017"/>
                </a:lnTo>
                <a:lnTo>
                  <a:pt x="57607" y="28803"/>
                </a:lnTo>
                <a:lnTo>
                  <a:pt x="55344" y="17589"/>
                </a:lnTo>
                <a:lnTo>
                  <a:pt x="49172" y="8434"/>
                </a:lnTo>
                <a:lnTo>
                  <a:pt x="40017" y="2262"/>
                </a:lnTo>
                <a:lnTo>
                  <a:pt x="28803" y="0"/>
                </a:lnTo>
                <a:close/>
              </a:path>
            </a:pathLst>
          </a:custGeom>
          <a:solidFill>
            <a:srgbClr val="F5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982200" y="6621028"/>
            <a:ext cx="192874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08 | C</a:t>
            </a:r>
            <a:r>
              <a:rPr lang="en-US" sz="900" dirty="0">
                <a:latin typeface="Aptos"/>
              </a:rPr>
              <a:t>OMPANY NAME</a:t>
            </a:r>
            <a:r>
              <a:rPr sz="900" dirty="0">
                <a:latin typeface="Aptos"/>
              </a:rPr>
              <a:t> | CONFIDENTIAL</a:t>
            </a:r>
            <a:endParaRPr sz="800" dirty="0">
              <a:latin typeface="Aptos"/>
              <a:cs typeface="Aptos"/>
            </a:endParaRPr>
          </a:p>
        </p:txBody>
      </p:sp>
      <p:pic>
        <p:nvPicPr>
          <p:cNvPr id="29" name="object 25" descr="gen-dedup-07e7a85c84351fa2035f1c286580a352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15600" y="101715"/>
            <a:ext cx="1619401" cy="696796"/>
          </a:xfrm>
          <a:prstGeom prst="rect">
            <a:avLst/>
          </a:prstGeom>
        </p:spPr>
      </p:pic>
      <p:sp>
        <p:nvSpPr>
          <p:cNvPr id="30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418795" y="6592754"/>
            <a:ext cx="2495220" cy="202798"/>
          </a:xfrm>
          <a:prstGeom prst="rect">
            <a:avLst/>
          </a:prstGeom>
        </p:spPr>
        <p:txBody>
          <a:bodyPr vert="horz" wrap="square" lIns="0" tIns="636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ptos"/>
              </a:rPr>
              <a:t>EQUITY RESEARCH · </a:t>
            </a:r>
            <a:r>
              <a:rPr lang="en-US" sz="900" dirty="0">
                <a:latin typeface="Aptos"/>
              </a:rPr>
              <a:t>Company Name</a:t>
            </a:r>
            <a:endParaRPr sz="900" dirty="0"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ptos"/>
        <a:font script="Hebr" typeface="Apto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ptos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1847</Words>
  <Application>WPS Presentation</Application>
  <PresentationFormat>Widescreen</PresentationFormat>
  <Paragraphs>174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Aptos</vt:lpstr>
      <vt:lpstr>Segoe UI</vt:lpstr>
      <vt:lpstr>Calibri</vt:lpstr>
      <vt:lpstr>Microsoft YaHei</vt:lpstr>
      <vt:lpstr>Arial Unicode MS</vt:lpstr>
      <vt:lpstr>Office Theme</vt:lpstr>
      <vt:lpstr>NSE Tag | BSE Tag | Sector| Type of Market Cap</vt:lpstr>
      <vt:lpstr>Sector, Product Portfolio &amp; SWOT</vt:lpstr>
      <vt:lpstr>P&amp;L Trend, Balance Sheet, Cash Flow &amp; Ratios</vt:lpstr>
      <vt:lpstr>Enterprise Value, Leverage &amp; Governance Metrics</vt:lpstr>
      <vt:lpstr>PEER COMPARISION</vt:lpstr>
      <vt:lpstr>STOCK PERFORMANCE · TECHNICAL · VALUATION · MANAGEMENT</vt:lpstr>
      <vt:lpstr>Summary of FY26 / Jul-2026 Update</vt:lpstr>
      <vt:lpstr>Questions to Management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Lenovo</cp:lastModifiedBy>
  <cp:revision>22</cp:revision>
  <dcterms:created xsi:type="dcterms:W3CDTF">2026-07-29T12:18:00Z</dcterms:created>
  <dcterms:modified xsi:type="dcterms:W3CDTF">2026-08-11T11:42:35Z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2026-07-28T11:00:00Z</vt:filetime>
  </property>
  <property fmtid="{D5CDD505-2E9C-101B-9397-08002B2CF9AE}" pid="4" name="Creator">
    <vt:lpwstr>Acrobat PDFMaker 11 for PowerPoint</vt:lpwstr>
  </property>
  <property fmtid="{D5CDD505-2E9C-101B-9397-08002B2CF9AE}" pid="5" name="ICV">
    <vt:lpwstr>D0149DB442B044669B140CDA50B16CCA_12</vt:lpwstr>
  </property>
  <property fmtid="{D5CDD505-2E9C-101B-9397-08002B2CF9AE}" pid="6" name="KSOProductBuildVer">
    <vt:lpwstr>1033-12.1.0.28032</vt:lpwstr>
  </property>
  <property fmtid="{D5CDD505-2E9C-101B-9397-08002B2CF9AE}" pid="7" name="LastSaved">
    <vt:filetime>2026-07-29T11:00:00Z</vt:filetime>
  </property>
  <property fmtid="{D5CDD505-2E9C-101B-9397-08002B2CF9AE}" pid="8" name="Producer">
    <vt:lpwstr>Adobe PDF Library 11.0</vt:lpwstr>
  </property>
</Properties>
</file>